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31_3DEBE558.xml" ContentType="application/vnd.ms-powerpoint.comments+xml"/>
  <Override PartName="/ppt/notesSlides/notesSlide2.xml" ContentType="application/vnd.openxmlformats-officedocument.presentationml.notesSlide+xml"/>
  <Override PartName="/ppt/comments/modernComment_151_85C6C1C4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3D_8AFC7318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28"/>
  </p:notesMasterIdLst>
  <p:handoutMasterIdLst>
    <p:handoutMasterId r:id="rId29"/>
  </p:handoutMasterIdLst>
  <p:sldIdLst>
    <p:sldId id="280" r:id="rId5"/>
    <p:sldId id="305" r:id="rId6"/>
    <p:sldId id="337" r:id="rId7"/>
    <p:sldId id="318" r:id="rId8"/>
    <p:sldId id="320" r:id="rId9"/>
    <p:sldId id="322" r:id="rId10"/>
    <p:sldId id="311" r:id="rId11"/>
    <p:sldId id="336" r:id="rId12"/>
    <p:sldId id="323" r:id="rId13"/>
    <p:sldId id="324" r:id="rId14"/>
    <p:sldId id="326" r:id="rId15"/>
    <p:sldId id="317" r:id="rId16"/>
    <p:sldId id="333" r:id="rId17"/>
    <p:sldId id="312" r:id="rId18"/>
    <p:sldId id="327" r:id="rId19"/>
    <p:sldId id="334" r:id="rId20"/>
    <p:sldId id="330" r:id="rId21"/>
    <p:sldId id="331" r:id="rId22"/>
    <p:sldId id="309" r:id="rId23"/>
    <p:sldId id="310" r:id="rId24"/>
    <p:sldId id="335" r:id="rId25"/>
    <p:sldId id="32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BA1196-EDF5-4829-8951-0EB0B2556B4D}">
          <p14:sldIdLst>
            <p14:sldId id="280"/>
            <p14:sldId id="305"/>
            <p14:sldId id="337"/>
            <p14:sldId id="318"/>
            <p14:sldId id="320"/>
            <p14:sldId id="322"/>
            <p14:sldId id="311"/>
            <p14:sldId id="336"/>
            <p14:sldId id="323"/>
            <p14:sldId id="324"/>
            <p14:sldId id="326"/>
            <p14:sldId id="317"/>
            <p14:sldId id="333"/>
            <p14:sldId id="312"/>
            <p14:sldId id="327"/>
            <p14:sldId id="334"/>
            <p14:sldId id="330"/>
            <p14:sldId id="331"/>
            <p14:sldId id="309"/>
            <p14:sldId id="310"/>
            <p14:sldId id="335"/>
            <p14:sldId id="328"/>
            <p14:sldId id="27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D93EA26-E8A7-0481-9158-822ECF132AD2}" name="Amy Lane" initials="AL" userId="S::amy.lane@communities.gov.uk::fc306f7b-2350-4431-b7fe-5817f14fded8" providerId="AD"/>
  <p188:author id="{B0457738-EF45-60E6-A038-59C867270E85}" name="Jenny Luckett" initials="JL" userId="S::jenny.luckett@communities.gov.uk::fa779b83-6afb-4b44-9e6b-25b8e838da30" providerId="AD"/>
  <p188:author id="{C62B776B-8CC9-929B-5526-AD1A2D37EFDE}" name="Jacqueline Thomas" initials="JT" userId="S::jacqueline.thomas@communities.gov.uk::55de3c8a-7119-4d33-ab07-4cd377e5c935" providerId="AD"/>
  <p188:author id="{7D11A48C-B1B7-A03E-C415-1DA8F2BE6BC3}" name="Darren Grimes" initials="DG" userId="S::darren.grimes@theapsgroup.com::d0f171b2-caa0-414b-84fb-340ba9c46206" providerId="AD"/>
  <p188:author id="{A89B4EBA-046A-7F49-AFCA-F1FC6A27C21F}" name="Rowan Morris" initials="RM" userId="S::rowan.morris@communities.gov.uk::214f793d-d916-4689-9b06-f36ee5eeca37" providerId="AD"/>
  <p188:author id="{8267D9F6-61C0-3E68-5658-59D9E4F07AD0}" name="William Kruczek" initials="WK" userId="S::William.Kruczek@communities.gov.uk::1d921ea2-89bb-449c-8dcd-59bba49c09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36D"/>
    <a:srgbClr val="801650"/>
    <a:srgbClr val="006660"/>
    <a:srgbClr val="00625E"/>
    <a:srgbClr val="005E62"/>
    <a:srgbClr val="535453"/>
    <a:srgbClr val="85292A"/>
    <a:srgbClr val="333366"/>
    <a:srgbClr val="33282A"/>
    <a:srgbClr val="99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77719D-69C4-4001-A4B2-16DD3282163D}" v="33" dt="2026-09-23T16:07:51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Kruczek" userId="1d921ea2-89bb-449c-8dcd-59bba49c0912" providerId="ADAL" clId="{99BEC226-A6EB-4252-A89A-8A589700888B}"/>
    <pc:docChg chg="custSel modSld">
      <pc:chgData name="William Kruczek" userId="1d921ea2-89bb-449c-8dcd-59bba49c0912" providerId="ADAL" clId="{99BEC226-A6EB-4252-A89A-8A589700888B}" dt="2026-09-23T16:07:51.121" v="32" actId="1076"/>
      <pc:docMkLst>
        <pc:docMk/>
      </pc:docMkLst>
      <pc:sldChg chg="addSp delSp modSp mod">
        <pc:chgData name="William Kruczek" userId="1d921ea2-89bb-449c-8dcd-59bba49c0912" providerId="ADAL" clId="{99BEC226-A6EB-4252-A89A-8A589700888B}" dt="2026-09-23T16:07:51.121" v="32" actId="1076"/>
        <pc:sldMkLst>
          <pc:docMk/>
          <pc:sldMk cId="1871497607" sldId="333"/>
        </pc:sldMkLst>
        <pc:spChg chg="add mod">
          <ac:chgData name="William Kruczek" userId="1d921ea2-89bb-449c-8dcd-59bba49c0912" providerId="ADAL" clId="{99BEC226-A6EB-4252-A89A-8A589700888B}" dt="2026-09-23T16:07:51.121" v="32" actId="1076"/>
          <ac:spMkLst>
            <pc:docMk/>
            <pc:sldMk cId="1871497607" sldId="333"/>
            <ac:spMk id="4" creationId="{78FF7B03-5F2E-274F-521C-27FBC7780536}"/>
          </ac:spMkLst>
        </pc:spChg>
        <pc:spChg chg="del">
          <ac:chgData name="William Kruczek" userId="1d921ea2-89bb-449c-8dcd-59bba49c0912" providerId="ADAL" clId="{99BEC226-A6EB-4252-A89A-8A589700888B}" dt="2026-09-23T16:06:23.666" v="0" actId="478"/>
          <ac:spMkLst>
            <pc:docMk/>
            <pc:sldMk cId="1871497607" sldId="333"/>
            <ac:spMk id="13" creationId="{0BE5250B-CC80-7306-BDB6-E528E32ADA88}"/>
          </ac:spMkLst>
        </pc:spChg>
      </pc:sldChg>
    </pc:docChg>
  </pc:docChgLst>
</pc:chgInfo>
</file>

<file path=ppt/comments/modernComment_13D_8AFC73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7CC56F-9824-4E6E-A847-5545B1D9B8E8}" authorId="{A89B4EBA-046A-7F49-AFCA-F1FC6A27C21F}" created="2026-08-11T10:04:13.2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31800344" sldId="317"/>
      <ac:picMk id="12" creationId="{B16A0393-9E3E-5330-89BB-A1C9B66752F0}"/>
    </ac:deMkLst>
    <p188:txBody>
      <a:bodyPr/>
      <a:lstStyle/>
      <a:p>
        <a:r>
          <a:rPr lang="en-GB"/>
          <a:t>I think this uses the rate that is from school pupils. For consistency, please use the EHCP rate which is used in the rest of the slide deck (as a proportion of 0-25 population)</a:t>
        </a:r>
      </a:p>
    </p188:txBody>
  </p188:cm>
  <p188:cm id="{08589E0C-6347-46D3-9D92-1B42C0AF17A2}" authorId="{A89B4EBA-046A-7F49-AFCA-F1FC6A27C21F}" created="2026-08-11T10:05:34.5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31800344" sldId="317"/>
      <ac:spMk id="18" creationId="{26A277E5-FD01-03C6-9BCC-618EF404D5BC}"/>
      <ac:txMk cp="521">
        <ac:context len="807" hash="2229165403"/>
      </ac:txMk>
    </ac:txMkLst>
    <p188:pos x="4878658" y="594731"/>
    <p188:txBody>
      <a:bodyPr/>
      <a:lstStyle/>
      <a:p>
        <a:r>
          <a:rPr lang="en-GB"/>
          <a:t>Not sure I follow what this means or how it relates to the slide? Might just need clarifying </a:t>
        </a:r>
      </a:p>
    </p188:txBody>
  </p188:cm>
</p188:cmLst>
</file>

<file path=ppt/comments/modernComment_131_3DEBE5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AA201E-9B8B-4D97-AB51-A15B4B6ADFAC}" authorId="{A89B4EBA-046A-7F49-AFCA-F1FC6A27C21F}" created="2026-08-11T09:52:06.2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8869848" sldId="305"/>
      <ac:spMk id="15" creationId="{9D09C12C-7430-52FF-EA67-132FE2C91A01}"/>
    </ac:deMkLst>
    <p188:txBody>
      <a:bodyPr/>
      <a:lstStyle/>
      <a:p>
        <a:r>
          <a:rPr lang="en-GB"/>
          <a:t>I'd probably change this to say "large majority of london boroughs sit in two lowest bands" </a:t>
        </a:r>
      </a:p>
    </p188:txBody>
  </p188:cm>
  <p188:cm id="{1D27CA52-3B39-44F5-A374-26905160B12B}" authorId="{A89B4EBA-046A-7F49-AFCA-F1FC6A27C21F}" created="2026-08-11T09:53:52.0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8869848" sldId="305"/>
      <ac:spMk id="27" creationId="{2306BF94-11F0-9D52-F1C7-BAD4537AE416}"/>
    </ac:deMkLst>
    <p188:txBody>
      <a:bodyPr/>
      <a:lstStyle/>
      <a:p>
        <a:r>
          <a:rPr lang="en-GB"/>
          <a:t>Sorry this might just be me but I struggle to parse "growth as tracked closer together across boroughs". Maybe say we see clusters of lower growth?</a:t>
        </a:r>
      </a:p>
    </p188:txBody>
  </p188:cm>
</p188:cmLst>
</file>

<file path=ppt/comments/modernComment_151_85C6C1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0F5E50-A739-416C-B563-582C958F7758}" authorId="{A89B4EBA-046A-7F49-AFCA-F1FC6A27C21F}" created="2026-08-11T09:52:06.2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8869848" sldId="305"/>
      <ac:spMk id="15" creationId="{9D09C12C-7430-52FF-EA67-132FE2C91A01}"/>
    </ac:deMkLst>
    <p188:txBody>
      <a:bodyPr/>
      <a:lstStyle/>
      <a:p>
        <a:r>
          <a:rPr lang="en-GB"/>
          <a:t>I'd probably change this to say "large majority of london boroughs sit in two lowest bands" </a:t>
        </a:r>
      </a:p>
    </p188:txBody>
  </p188:cm>
  <p188:cm id="{5705323D-F759-4AD7-A1DB-6B01A550CB00}" authorId="{A89B4EBA-046A-7F49-AFCA-F1FC6A27C21F}" created="2026-08-11T09:53:52.0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8869848" sldId="305"/>
      <ac:spMk id="27" creationId="{2306BF94-11F0-9D52-F1C7-BAD4537AE416}"/>
    </ac:deMkLst>
    <p188:txBody>
      <a:bodyPr/>
      <a:lstStyle/>
      <a:p>
        <a:r>
          <a:rPr lang="en-GB"/>
          <a:t>Sorry this might just be me but I struggle to parse "growth as tracked closer together across boroughs". Maybe say we see clusters of lower growth?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ACDA1C-C513-FEDB-1B28-D95FC9E454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DC6C4-95C7-6F5C-4B24-16A5C1DE1D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1E27D-3AA0-FF49-BF80-1D5029A145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C4783-165D-FDB0-1F1E-F7235E9006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BD00D-B280-EC90-0559-3136D1BC4F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EEBA1-7778-B244-849D-DCA48F006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815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B0F88-AE9A-4C54-8E20-52AF2A55CAC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B5F3E-9433-4D4B-8703-99BBF0C656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74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A08D-1C94-7A61-83FE-AA27095F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48F63-14DC-DB83-CAC8-9F55E2F53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649F0-B920-449F-ED88-42A89D106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21776-F93E-C4CD-C06B-9DC2AB2C6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50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1AC5-B78F-D9AC-02EB-C6D0B3AB7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47DD7-4702-D389-4953-7A90807DE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68272F-CB14-2463-28D4-846B12BD5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8CFA-F538-E0EF-573F-D668FB2FC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00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B106-2644-8AFA-F464-38D48F80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198D8-A383-E4FC-3659-E8C9A1D29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F4F9C-56D9-D09B-0FFD-4EE423FF3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29E0-8A16-1FDE-2BAB-B2B9F87E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404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2B69-F804-BF7A-8E35-071B67ABD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C5F68-F301-F902-C376-3E63888D0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7D420-889B-B52A-ECA7-0B7675E9B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43540-07EF-CE68-52C9-C61B0B171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891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C0F0E-60C7-B412-4713-D8D26D46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06399-3AA5-3F83-457D-A1ECB725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641B3-1983-9669-5B45-1E7CFAE31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3F90F-D450-5A6A-96BA-A96EA2987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565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FF97-8D89-C269-A7DB-946B02C3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9582A-EE5E-D738-D33D-D84985FCD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6153D-926F-06AC-7286-C00E58CB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F15DA-F3AB-BAD6-E415-713B6FF03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17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627A-2B5D-7156-7F6B-ECF6D26B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EF763-8250-87B6-756A-ED335D105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ADC08-D04E-D972-548C-C1634172A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E0B43-40C4-0AEB-CED3-5749016EC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2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FB80-9D6F-7D03-FC50-CC3121EB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08F6C-4B8D-1C54-47DB-1E056FA51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40E52D-813A-53B3-48BB-D4E96601D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8811-F49D-86F4-6FD5-4909CEF16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981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5372-1137-0ABA-F8FC-3D179B2E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5360C-EB85-6270-B582-9726FEA8E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80E4E-2EF1-B623-BEB8-E9DA63CA9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187D6-6E48-CBE7-48A7-DE7B9971C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102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1E26-AEB6-6739-6D50-E6F974B4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0F250-A802-1906-E0F9-89299CFBC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D3182-31F0-6743-D7C3-BE568D0C3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C5D45-AF03-716C-EC6C-A8E02460A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27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905A-783A-6386-8AEB-C5D9AE07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29FDF-238A-E2C2-E8FE-45D5B6B45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C1CD7-BD3D-2A76-E9CD-5F3788A09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0E100-B961-86D3-D39A-B6E40AB96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831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B414-7FCC-DC8E-C34D-76E1853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4F3D6-A4BD-EF29-7EA3-5995013C1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E24AC-881A-DCCF-7ED9-6CB88CBD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8807D-682C-337D-C42B-FB42B9F07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204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2907-D52A-EF1F-676D-D56ECB2A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A8FEE-700E-CEFE-5306-4F5B5E564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402C0-ECB0-A91A-9B55-2F4975D10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77448-10F9-6C2E-ABED-CBE4247A7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60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BD4CC-DBDB-0C29-0FC4-2F77FBF9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E06FE-9739-AAE6-E7C2-41EAAA9BF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3C2A2-EB98-7E63-892B-4D55BC52B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74158-F490-B70F-AF06-194BA93E0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596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58A3-E7E2-EFA8-A5BE-29359CC8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F3CD4-FD0C-C040-AC3E-952A7B76A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46E47-8C03-9F40-DC0B-D49E99DFE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8288C-E949-895B-B2F4-D9BD1079B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293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F9A0-C1A8-2DEE-7017-8A817766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FAC7D-4E53-EF78-E00D-1C533EE20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808E8-24A0-CD54-9842-E84412A00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153F4-F2EC-BBB3-6189-F87CF3686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471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F011-E0E7-546D-E7F8-2F89B825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15437-CF57-4E0E-6F1E-04729510F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46BD4-1FB1-4751-44FF-1FD5E1BC3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EF3-C599-D389-925F-DB618593C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380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8D33-56D4-F7AC-1857-D5D4B25D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8FC6A-C9DB-9AA2-2C2E-24C273BD8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2715D-C069-8332-A651-F509DFBC5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63F48-CB46-D9C8-C7A6-6E14072B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265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7589-A40A-5904-B4CF-8AC01DB3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F4896-5826-E4D9-69BE-EEA163670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38DE6-3FC9-9664-4352-4E4D32BF1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0ED39-50C7-B5C4-9F51-941FD5976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9985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98226-B783-1886-55B0-361F0A3A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6CF5D-F0A1-EDC1-8F98-EBBEA4889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86729-0760-CFB1-5D15-F44C359B1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D88F9-32C1-14DF-58EC-E3580CF85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293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AB8D0-CB8D-97C8-49BF-406E1FD3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AF3B8-A6A5-0C57-8052-8613D521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F13AF-38DF-AE61-DAF2-642A57A8E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62F06-8892-099E-289E-AF37F82C7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80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CB5F3E-9433-4D4B-8703-99BBF0C656F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9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A86227-5C0F-81C0-0265-714993E6D9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94624"/>
            <a:ext cx="12192000" cy="5463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CE8BEA-E477-9608-B8E8-7158F90D1AC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66636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9BFA732-254E-197F-FB34-83F104CF0D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4EF032-67A5-383B-A2F6-164155C82D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122636" y="4595631"/>
            <a:ext cx="7946728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Team – X Month 2023</a:t>
            </a:r>
          </a:p>
        </p:txBody>
      </p:sp>
      <p:sp>
        <p:nvSpPr>
          <p:cNvPr id="5" name="Title Placeholder 2">
            <a:extLst>
              <a:ext uri="{FF2B5EF4-FFF2-40B4-BE49-F238E27FC236}">
                <a16:creationId xmlns:a16="http://schemas.microsoft.com/office/drawing/2014/main" id="{C5D17A20-EF02-88BA-B0D8-AEC31AF2FA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122636" y="3429000"/>
            <a:ext cx="7946728" cy="914096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ctr">
              <a:defRPr sz="6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66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E040D1-633A-C9A9-0918-866B3AA06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42BCD2B-968B-89F9-EE6E-2D3E6456F4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31024-AFF6-56D4-C26A-8047B50A4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56E772-C6F9-9BBD-6DFC-3AD17BFFA1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Insert purpose of this slide pack </a:t>
            </a:r>
          </a:p>
        </p:txBody>
      </p:sp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C3738235-D9CB-90F0-F068-84EC4DA07F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5656" y="504000"/>
            <a:ext cx="7618405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30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introduction and contents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BE040D1-633A-C9A9-0918-866B3AA06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42BCD2B-968B-89F9-EE6E-2D3E6456F4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88B257E-221F-C7E4-8377-2FFFAA4DD0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43332" y="4716495"/>
            <a:ext cx="5988265" cy="105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7200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E3D03C26-BDAD-233F-6E47-52C4A9DC2F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53708" y="4716997"/>
            <a:ext cx="2466000" cy="105019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</a:t>
            </a:r>
            <a:r>
              <a:rPr lang="en-GB" err="1"/>
              <a:t>secion</a:t>
            </a:r>
            <a:r>
              <a:rPr lang="en-GB"/>
              <a:t> heading</a:t>
            </a:r>
            <a:endParaRPr lang="en-US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366B3FBE-753B-F4BF-482C-F5ADAB07EE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37115" y="4716997"/>
            <a:ext cx="1346400" cy="1050196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Part No.</a:t>
            </a:r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D1E4DE86-D338-B2CF-6889-F27AF58736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43332" y="3339108"/>
            <a:ext cx="5988265" cy="105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7200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A29D465-4204-0B59-6152-9B9A0EE185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53708" y="3339610"/>
            <a:ext cx="2466000" cy="105019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</a:t>
            </a:r>
            <a:r>
              <a:rPr lang="en-GB" err="1"/>
              <a:t>secion</a:t>
            </a:r>
            <a:r>
              <a:rPr lang="en-GB"/>
              <a:t> heading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A551F4B-755B-AEAC-9FC8-30FF456B00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37115" y="3339610"/>
            <a:ext cx="1346400" cy="1050196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Part No.</a:t>
            </a:r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77C276A-D67C-742F-A2B7-5D007EA59B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43332" y="1950146"/>
            <a:ext cx="5988265" cy="1051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lIns="7200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ABE0792-97BC-2357-08BF-2774805C38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53708" y="1950648"/>
            <a:ext cx="2466000" cy="105019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</a:t>
            </a:r>
            <a:r>
              <a:rPr lang="en-GB" err="1"/>
              <a:t>secion</a:t>
            </a:r>
            <a:r>
              <a:rPr lang="en-GB"/>
              <a:t> heading</a:t>
            </a:r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F259D-179D-20A7-83BD-C20522D645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37115" y="1950648"/>
            <a:ext cx="1346400" cy="1050196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600" b="1" i="0" kern="1200" dirty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Part No.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31024-AFF6-56D4-C26A-8047B50A42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156E772-C6F9-9BBD-6DFC-3AD17BFFA1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Insert purpose of this slide pack </a:t>
            </a:r>
          </a:p>
        </p:txBody>
      </p:sp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C3738235-D9CB-90F0-F068-84EC4DA07F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5656" y="504000"/>
            <a:ext cx="7618405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Introduction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012246-FEAD-2736-1E40-E7FB72DB0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D01E8D3-6CDB-79F9-ECFF-3651A3086E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4AB27-3E1D-9704-CD93-9526F2836F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52D4B64-9D8F-D594-4FDD-E602F72352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6" name="Title Placeholder 2">
            <a:extLst>
              <a:ext uri="{FF2B5EF4-FFF2-40B4-BE49-F238E27FC236}">
                <a16:creationId xmlns:a16="http://schemas.microsoft.com/office/drawing/2014/main" id="{4CDB539E-2F3F-2A61-7B92-04E022F3E1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14800" y="504000"/>
            <a:ext cx="7609261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1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of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012246-FEAD-2736-1E40-E7FB72DB0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D01E8D3-6CDB-79F9-ECFF-3651A3086E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EC0B2B-C87B-0C51-9F6B-F7FFE8E278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31911" y="1992578"/>
            <a:ext cx="4872312" cy="64633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n-GB" sz="1600" b="1" i="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B0265-450F-C335-6CC4-7D2948E7963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1842247"/>
            <a:ext cx="0" cy="452179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07AA62B4-5C1B-8BFC-B491-36C0674777AF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60000" y="1836498"/>
            <a:ext cx="5374800" cy="45175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4AB27-3E1D-9704-CD93-9526F2836F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52D4B64-9D8F-D594-4FDD-E602F72352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6" name="Title Placeholder 2">
            <a:extLst>
              <a:ext uri="{FF2B5EF4-FFF2-40B4-BE49-F238E27FC236}">
                <a16:creationId xmlns:a16="http://schemas.microsoft.com/office/drawing/2014/main" id="{4CDB539E-2F3F-2A61-7B92-04E022F3E1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14800" y="504000"/>
            <a:ext cx="7609261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939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of text box, text and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BE3F79B-2FBC-6E5C-355A-DE48CE262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01CF29A6-CB41-C2A9-C7BC-86F4CC1A2F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5AE1E8-FBBF-7855-3F7B-2B916F13D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400" y="1958804"/>
            <a:ext cx="562651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1DD2C8F-1F4A-BD4D-2809-C9417F6087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2000" y="3581400"/>
            <a:ext cx="5011200" cy="2671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lIns="288000" tIns="216000" rIns="288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  <a:endParaRPr lang="en-US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A9381C4-2FDD-D49A-D43E-1B2ABFA4BA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2000" y="1810870"/>
            <a:ext cx="5011200" cy="1620000"/>
          </a:xfrm>
          <a:prstGeom prst="roundRect">
            <a:avLst/>
          </a:prstGeom>
          <a:solidFill>
            <a:schemeClr val="tx2"/>
          </a:solidFill>
        </p:spPr>
        <p:txBody>
          <a:bodyPr lIns="1368000" tIns="251999" r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0D73907-34CD-8021-D089-CD58996F28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68149" y="2080870"/>
            <a:ext cx="1080000" cy="10800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0DEA4B-763A-4416-E47F-B2403CE6C1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0A3252-52D7-59BC-0144-D2092A1458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E436AFEF-FC18-66CC-3632-52F29552E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5656" y="504000"/>
            <a:ext cx="7618405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40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of grouping multiple inform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DC0B72B6-605B-094B-0AF4-DAB1832690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DBA4A6F6-191C-3E83-B9AA-E3B3064E30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A19F4D1-0FD2-4233-4831-CFE344BADED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16183" y="4756320"/>
            <a:ext cx="4514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06355359-FD37-A2D4-F1DB-FB7D7696E4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6183" y="4453856"/>
            <a:ext cx="4514400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header</a:t>
            </a:r>
            <a:endParaRPr lang="en-US"/>
          </a:p>
        </p:txBody>
      </p:sp>
      <p:sp>
        <p:nvSpPr>
          <p:cNvPr id="34" name="Rectangle: Rounded Corners 4">
            <a:extLst>
              <a:ext uri="{FF2B5EF4-FFF2-40B4-BE49-F238E27FC236}">
                <a16:creationId xmlns:a16="http://schemas.microsoft.com/office/drawing/2014/main" id="{EF14570C-57AA-FADD-0C3C-13828D0387FC}"/>
              </a:ext>
            </a:extLst>
          </p:cNvPr>
          <p:cNvSpPr/>
          <p:nvPr userDrawn="1"/>
        </p:nvSpPr>
        <p:spPr>
          <a:xfrm>
            <a:off x="6393600" y="4227338"/>
            <a:ext cx="5148000" cy="20520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8CFDB4-BA55-3B38-87C1-145124EF559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0000" y="4756320"/>
            <a:ext cx="4514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60A22822-4F89-6D2F-2D52-A25ED2032D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0000" y="4453856"/>
            <a:ext cx="4514400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header</a:t>
            </a:r>
            <a:endParaRPr lang="en-US"/>
          </a:p>
        </p:txBody>
      </p:sp>
      <p:sp>
        <p:nvSpPr>
          <p:cNvPr id="31" name="Rectangle: Rounded Corners 3">
            <a:extLst>
              <a:ext uri="{FF2B5EF4-FFF2-40B4-BE49-F238E27FC236}">
                <a16:creationId xmlns:a16="http://schemas.microsoft.com/office/drawing/2014/main" id="{12ADCB45-D977-07A6-FDA2-6EF04EE05353}"/>
              </a:ext>
            </a:extLst>
          </p:cNvPr>
          <p:cNvSpPr/>
          <p:nvPr userDrawn="1"/>
        </p:nvSpPr>
        <p:spPr>
          <a:xfrm>
            <a:off x="576000" y="4227338"/>
            <a:ext cx="5148000" cy="20520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49814ED8-F60A-01A4-09E8-A01B54A61BF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16183" y="2387874"/>
            <a:ext cx="4514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9BF4D4C-D0EE-7FF2-5452-838C9B636F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16183" y="2085410"/>
            <a:ext cx="4514400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header</a:t>
            </a:r>
            <a:endParaRPr lang="en-US"/>
          </a:p>
        </p:txBody>
      </p:sp>
      <p:sp>
        <p:nvSpPr>
          <p:cNvPr id="27" name="Rectangle: Rounded Corners 2">
            <a:extLst>
              <a:ext uri="{FF2B5EF4-FFF2-40B4-BE49-F238E27FC236}">
                <a16:creationId xmlns:a16="http://schemas.microsoft.com/office/drawing/2014/main" id="{A7802BF0-16BB-D154-0547-16D7919BF06E}"/>
              </a:ext>
            </a:extLst>
          </p:cNvPr>
          <p:cNvSpPr/>
          <p:nvPr userDrawn="1"/>
        </p:nvSpPr>
        <p:spPr>
          <a:xfrm>
            <a:off x="6393600" y="1858892"/>
            <a:ext cx="5148000" cy="20520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DDF0EAE-985C-CC15-F982-4D4F4C119B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000" y="2387874"/>
            <a:ext cx="4514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6750055F-362E-44AC-5356-F05F207701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0000" y="2085410"/>
            <a:ext cx="4514400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GB" sz="1600" b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header</a:t>
            </a:r>
            <a:endParaRPr lang="en-US"/>
          </a:p>
        </p:txBody>
      </p:sp>
      <p:sp>
        <p:nvSpPr>
          <p:cNvPr id="23" name="Rectangle: Rounded Corners 1">
            <a:extLst>
              <a:ext uri="{FF2B5EF4-FFF2-40B4-BE49-F238E27FC236}">
                <a16:creationId xmlns:a16="http://schemas.microsoft.com/office/drawing/2014/main" id="{F69F61DD-59F1-C0BB-C9E0-F02EB6017E0C}"/>
              </a:ext>
            </a:extLst>
          </p:cNvPr>
          <p:cNvSpPr/>
          <p:nvPr userDrawn="1"/>
        </p:nvSpPr>
        <p:spPr>
          <a:xfrm>
            <a:off x="576000" y="1858892"/>
            <a:ext cx="5148000" cy="2052000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C4B612-4C7F-2115-6CD8-9B5093A637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D1B96993-1626-44FD-6192-C83FAB0E97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38" name="Title Placeholder 2">
            <a:extLst>
              <a:ext uri="{FF2B5EF4-FFF2-40B4-BE49-F238E27FC236}">
                <a16:creationId xmlns:a16="http://schemas.microsoft.com/office/drawing/2014/main" id="{C6055F86-BEA3-116C-FBED-721EE979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9014" y="504000"/>
            <a:ext cx="7615048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84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of grouping multiple inform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836D8CF6-69B5-F29F-B657-A7A1E845F3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451DE942-8D92-123B-659F-FAB2FFEB95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19" name="Rectangle: Rounded Corners 5">
            <a:extLst>
              <a:ext uri="{FF2B5EF4-FFF2-40B4-BE49-F238E27FC236}">
                <a16:creationId xmlns:a16="http://schemas.microsoft.com/office/drawing/2014/main" id="{CE067A2C-46F7-2825-434F-CEE7DFAE41D1}"/>
              </a:ext>
            </a:extLst>
          </p:cNvPr>
          <p:cNvSpPr/>
          <p:nvPr userDrawn="1"/>
        </p:nvSpPr>
        <p:spPr>
          <a:xfrm>
            <a:off x="6485450" y="1858891"/>
            <a:ext cx="5078543" cy="4397187"/>
          </a:xfrm>
          <a:prstGeom prst="round2SameRect">
            <a:avLst>
              <a:gd name="adj1" fmla="val 0"/>
              <a:gd name="adj2" fmla="val 9213"/>
            </a:avLst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96DEA97-70B7-4002-C04D-03B6F8474C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07497" y="2574322"/>
            <a:ext cx="44344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BBDDA6-345B-B843-B5D2-3FD422F0B7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5921" y="1794286"/>
            <a:ext cx="5097600" cy="558000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sub-header</a:t>
            </a:r>
            <a:endParaRPr lang="en-US"/>
          </a:p>
        </p:txBody>
      </p:sp>
      <p:sp>
        <p:nvSpPr>
          <p:cNvPr id="23" name="Rectangle: Rounded Corners 1">
            <a:extLst>
              <a:ext uri="{FF2B5EF4-FFF2-40B4-BE49-F238E27FC236}">
                <a16:creationId xmlns:a16="http://schemas.microsoft.com/office/drawing/2014/main" id="{F69F61DD-59F1-C0BB-C9E0-F02EB6017E0C}"/>
              </a:ext>
            </a:extLst>
          </p:cNvPr>
          <p:cNvSpPr/>
          <p:nvPr userDrawn="1"/>
        </p:nvSpPr>
        <p:spPr>
          <a:xfrm>
            <a:off x="651810" y="1858891"/>
            <a:ext cx="5078543" cy="4397187"/>
          </a:xfrm>
          <a:prstGeom prst="round2SameRect">
            <a:avLst>
              <a:gd name="adj1" fmla="val 0"/>
              <a:gd name="adj2" fmla="val 9213"/>
            </a:avLst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DDF0EAE-985C-CC15-F982-4D4F4C119B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3857" y="2574322"/>
            <a:ext cx="44344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6750055F-362E-44AC-5356-F05F207701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281" y="1794286"/>
            <a:ext cx="5097600" cy="558000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sub-header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F0512B-71BC-CC69-CBD8-A5AC0FEAA9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771ED409-3394-EB5B-CCFA-36A4897129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37" name="Title Placeholder 2">
            <a:extLst>
              <a:ext uri="{FF2B5EF4-FFF2-40B4-BE49-F238E27FC236}">
                <a16:creationId xmlns:a16="http://schemas.microsoft.com/office/drawing/2014/main" id="{2A82B2AA-3882-11C8-4928-8012D82E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9014" y="504000"/>
            <a:ext cx="7615048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8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of infographic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8630B50-84DA-5FC4-84A1-1A4ED10B43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7AD4746-9DC7-13F7-934E-B03E9B5986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27" name="SmartArt Placeholder 1">
            <a:extLst>
              <a:ext uri="{FF2B5EF4-FFF2-40B4-BE49-F238E27FC236}">
                <a16:creationId xmlns:a16="http://schemas.microsoft.com/office/drawing/2014/main" id="{AB4A304E-68FB-0CDC-9A6B-0CA3E57E4B28}"/>
              </a:ext>
            </a:extLst>
          </p:cNvPr>
          <p:cNvSpPr>
            <a:spLocks noGrp="1"/>
          </p:cNvSpPr>
          <p:nvPr>
            <p:ph type="dgm" sz="quarter" idx="23"/>
          </p:nvPr>
        </p:nvSpPr>
        <p:spPr>
          <a:xfrm>
            <a:off x="6457201" y="1836498"/>
            <a:ext cx="5374797" cy="451750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lang="en-US" sz="1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BE6983-A079-D5D8-1F9F-DF09796DBA9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1842247"/>
            <a:ext cx="0" cy="452179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DDF0EAE-985C-CC15-F982-4D4F4C119B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307" y="2593372"/>
            <a:ext cx="470304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B060B3C-2AF3-1D3D-DE28-9841D46F83B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9258" y="1810870"/>
            <a:ext cx="5056086" cy="455855"/>
          </a:xfrm>
          <a:prstGeom prst="roundRect">
            <a:avLst/>
          </a:prstGeom>
          <a:solidFill>
            <a:schemeClr val="tx2"/>
          </a:solid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lang="en-US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b="1" kern="1200" dirty="0" smtClean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rgbClr val="012169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header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DF5227-C3B1-EA22-D494-37A10E8E90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F5C7240-BC70-F047-76C1-F4F895E6FA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780DEBAF-6038-2055-ABB1-098B08B555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5656" y="504000"/>
            <a:ext cx="7618405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17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icon and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B9C17506-8579-8975-52FC-81F63B6B15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Footer Placeholder 4">
            <a:extLst>
              <a:ext uri="{FF2B5EF4-FFF2-40B4-BE49-F238E27FC236}">
                <a16:creationId xmlns:a16="http://schemas.microsoft.com/office/drawing/2014/main" id="{0708DEB4-A3E4-C135-CC90-1E47C78A7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2FEB0E83-A665-4F42-2656-A6DE1D1E7D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67200" y="6334344"/>
            <a:ext cx="11340000" cy="0"/>
          </a:xfrm>
          <a:prstGeom prst="line">
            <a:avLst/>
          </a:prstGeom>
          <a:ln w="95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7A388780-0C1E-734B-FF34-87D783F10E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255662" y="5395920"/>
            <a:ext cx="7996521" cy="2769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8F76C1C6-4B2C-0DCF-2CC2-9B8AE2C7434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7881" y="5021419"/>
            <a:ext cx="2532530" cy="1026000"/>
          </a:xfrm>
          <a:prstGeom prst="roundRect">
            <a:avLst/>
          </a:prstGeom>
          <a:solidFill>
            <a:schemeClr val="tx2"/>
          </a:solidFill>
        </p:spPr>
        <p:txBody>
          <a:bodyPr lIns="827999" tIns="0" rIns="90000" bIns="0" anchor="ctr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defRPr lang="en-GB" sz="18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0E66B355-7B88-4035-5471-D1DFCCD6BCF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27258" y="5097046"/>
            <a:ext cx="708784" cy="878408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cxnSp>
        <p:nvCxnSpPr>
          <p:cNvPr id="13" name="Straight Connector 2">
            <a:extLst>
              <a:ext uri="{FF2B5EF4-FFF2-40B4-BE49-F238E27FC236}">
                <a16:creationId xmlns:a16="http://schemas.microsoft.com/office/drawing/2014/main" id="{23000480-EA21-3B7D-25C7-42525B61BE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67200" y="4740868"/>
            <a:ext cx="11340000" cy="0"/>
          </a:xfrm>
          <a:prstGeom prst="line">
            <a:avLst/>
          </a:prstGeom>
          <a:ln w="95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CA83351C-C32B-FF19-4AA4-536F9F2A85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55662" y="3807752"/>
            <a:ext cx="7996521" cy="2769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510443C-95B1-C730-80BF-853387A908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7881" y="3433251"/>
            <a:ext cx="2532530" cy="1026000"/>
          </a:xfrm>
          <a:prstGeom prst="roundRect">
            <a:avLst/>
          </a:prstGeom>
          <a:solidFill>
            <a:schemeClr val="tx2"/>
          </a:solidFill>
        </p:spPr>
        <p:txBody>
          <a:bodyPr lIns="827999" tIns="0" rIns="90000" bIns="0" anchor="ctr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defRPr lang="en-GB" sz="18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3CE9F517-024D-0D74-D269-83DA2D17C15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7258" y="3508878"/>
            <a:ext cx="708784" cy="878408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cxnSp>
        <p:nvCxnSpPr>
          <p:cNvPr id="11" name="Straight Connector 1">
            <a:extLst>
              <a:ext uri="{FF2B5EF4-FFF2-40B4-BE49-F238E27FC236}">
                <a16:creationId xmlns:a16="http://schemas.microsoft.com/office/drawing/2014/main" id="{1033842E-FE73-A8AE-3074-E0DD4F678CC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67200" y="3147392"/>
            <a:ext cx="11340000" cy="0"/>
          </a:xfrm>
          <a:prstGeom prst="line">
            <a:avLst/>
          </a:prstGeom>
          <a:ln w="9525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5BD43C2-5E65-024F-F2D7-1623C84E02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55662" y="2211755"/>
            <a:ext cx="7996521" cy="27699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284400" indent="-2844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AF4A1666-ED29-F94C-EA0C-CAB8204D3A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7881" y="1837254"/>
            <a:ext cx="2532530" cy="1026000"/>
          </a:xfrm>
          <a:prstGeom prst="roundRect">
            <a:avLst/>
          </a:prstGeom>
          <a:solidFill>
            <a:schemeClr val="tx2"/>
          </a:solidFill>
        </p:spPr>
        <p:txBody>
          <a:bodyPr lIns="827999" tIns="0" rIns="90000" bIns="0" anchor="ctr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  <a:defRPr lang="en-GB" sz="18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5C5FED16-432A-1305-B6EB-4CD0640437B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258" y="1912881"/>
            <a:ext cx="708784" cy="878408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9218C3-5425-4781-DFD8-FD8BB8DB90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29757ACF-BF1B-B2DE-15DF-32EA8A5349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42" name="Title Placeholder 2">
            <a:extLst>
              <a:ext uri="{FF2B5EF4-FFF2-40B4-BE49-F238E27FC236}">
                <a16:creationId xmlns:a16="http://schemas.microsoft.com/office/drawing/2014/main" id="{B67761A9-73CB-B603-1585-51146EA503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14800" y="504000"/>
            <a:ext cx="7609261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15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icon and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>
            <a:extLst>
              <a:ext uri="{FF2B5EF4-FFF2-40B4-BE49-F238E27FC236}">
                <a16:creationId xmlns:a16="http://schemas.microsoft.com/office/drawing/2014/main" id="{BB9493E2-AB30-4E8D-01FB-ED3A6EF39A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Footer Placeholder 4">
            <a:extLst>
              <a:ext uri="{FF2B5EF4-FFF2-40B4-BE49-F238E27FC236}">
                <a16:creationId xmlns:a16="http://schemas.microsoft.com/office/drawing/2014/main" id="{7FC05237-CEA4-090B-5C6E-FCB92CA748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6691FD-8AFD-D8E6-68B3-FD29BE11635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55978" y="4716000"/>
            <a:ext cx="5083200" cy="1565999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lIns="288000" tIns="216000" rIns="216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6791F2DD-5D9A-CBD5-7D9E-84D57B553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2824" y="4716000"/>
            <a:ext cx="5083200" cy="1565999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lIns="288000" tIns="216000" rIns="216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1"/>
                </a:solidFill>
              </a:defRPr>
            </a:lvl1pPr>
            <a:lvl2pPr marL="284400" indent="-28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F6920D-A27B-DFC6-46A7-3D4F3A79E647}"/>
              </a:ext>
            </a:extLst>
          </p:cNvPr>
          <p:cNvCxnSpPr>
            <a:cxnSpLocks/>
          </p:cNvCxnSpPr>
          <p:nvPr/>
        </p:nvCxnSpPr>
        <p:spPr>
          <a:xfrm>
            <a:off x="555361" y="3101266"/>
            <a:ext cx="11081279" cy="0"/>
          </a:xfrm>
          <a:prstGeom prst="straightConnector1">
            <a:avLst/>
          </a:prstGeom>
          <a:ln w="12700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Oval 4">
            <a:extLst>
              <a:ext uri="{FF2B5EF4-FFF2-40B4-BE49-F238E27FC236}">
                <a16:creationId xmlns:a16="http://schemas.microsoft.com/office/drawing/2014/main" id="{1C7426EE-1333-F01D-A323-4B9A5C943EED}"/>
              </a:ext>
            </a:extLst>
          </p:cNvPr>
          <p:cNvSpPr>
            <a:spLocks noChangeAspect="1"/>
          </p:cNvSpPr>
          <p:nvPr userDrawn="1"/>
        </p:nvSpPr>
        <p:spPr>
          <a:xfrm>
            <a:off x="9524341" y="2435266"/>
            <a:ext cx="1332000" cy="1332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icture Placeholder 4">
            <a:extLst>
              <a:ext uri="{FF2B5EF4-FFF2-40B4-BE49-F238E27FC236}">
                <a16:creationId xmlns:a16="http://schemas.microsoft.com/office/drawing/2014/main" id="{C1ECA2C2-CFA0-6CD8-D669-39A95ED44C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848341" y="2759266"/>
            <a:ext cx="684000" cy="6840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53" name="Oval 3">
            <a:extLst>
              <a:ext uri="{FF2B5EF4-FFF2-40B4-BE49-F238E27FC236}">
                <a16:creationId xmlns:a16="http://schemas.microsoft.com/office/drawing/2014/main" id="{CD3003A9-ED4B-D256-7D49-F73784E26871}"/>
              </a:ext>
            </a:extLst>
          </p:cNvPr>
          <p:cNvSpPr>
            <a:spLocks noChangeAspect="1"/>
          </p:cNvSpPr>
          <p:nvPr userDrawn="1"/>
        </p:nvSpPr>
        <p:spPr>
          <a:xfrm>
            <a:off x="6808148" y="2435266"/>
            <a:ext cx="1332000" cy="1332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icture Placeholder 3">
            <a:extLst>
              <a:ext uri="{FF2B5EF4-FFF2-40B4-BE49-F238E27FC236}">
                <a16:creationId xmlns:a16="http://schemas.microsoft.com/office/drawing/2014/main" id="{93019B69-1557-D66B-A564-CE75D535781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32148" y="2759266"/>
            <a:ext cx="684000" cy="6840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54" name="Oval 2">
            <a:extLst>
              <a:ext uri="{FF2B5EF4-FFF2-40B4-BE49-F238E27FC236}">
                <a16:creationId xmlns:a16="http://schemas.microsoft.com/office/drawing/2014/main" id="{8A8ACA49-DE03-B274-D830-F48226F73981}"/>
              </a:ext>
            </a:extLst>
          </p:cNvPr>
          <p:cNvSpPr>
            <a:spLocks noChangeAspect="1"/>
          </p:cNvSpPr>
          <p:nvPr userDrawn="1"/>
        </p:nvSpPr>
        <p:spPr>
          <a:xfrm>
            <a:off x="4091956" y="2435266"/>
            <a:ext cx="1332000" cy="1332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9D12E80A-5EA9-35E8-184B-0C806469B24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415956" y="2759266"/>
            <a:ext cx="684000" cy="6840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51" name="Oval 1">
            <a:extLst>
              <a:ext uri="{FF2B5EF4-FFF2-40B4-BE49-F238E27FC236}">
                <a16:creationId xmlns:a16="http://schemas.microsoft.com/office/drawing/2014/main" id="{924CC745-07D4-BECF-CC5A-3EA7D5AA43A6}"/>
              </a:ext>
            </a:extLst>
          </p:cNvPr>
          <p:cNvSpPr>
            <a:spLocks noChangeAspect="1"/>
          </p:cNvSpPr>
          <p:nvPr userDrawn="1"/>
        </p:nvSpPr>
        <p:spPr>
          <a:xfrm>
            <a:off x="1375764" y="2435266"/>
            <a:ext cx="1332000" cy="1332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icture Placeholder 1">
            <a:extLst>
              <a:ext uri="{FF2B5EF4-FFF2-40B4-BE49-F238E27FC236}">
                <a16:creationId xmlns:a16="http://schemas.microsoft.com/office/drawing/2014/main" id="{133461F1-D380-F735-092B-1FDB17251D0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699764" y="2759266"/>
            <a:ext cx="684000" cy="6840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000">
                <a:solidFill>
                  <a:srgbClr val="D02F7C"/>
                </a:solidFill>
              </a:defRPr>
            </a:lvl1pPr>
          </a:lstStyle>
          <a:p>
            <a:r>
              <a:rPr lang="en-US"/>
              <a:t>Click to place icon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1BC2C6-A5A7-7DC9-FB23-7BBED8792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8233" y="1442523"/>
            <a:ext cx="11617483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6FD13E02-A7F3-9A62-A198-C4E0718DE7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88233" y="1064174"/>
            <a:ext cx="11528628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One line summary of slide / key takeaway</a:t>
            </a:r>
          </a:p>
        </p:txBody>
      </p:sp>
      <p:sp>
        <p:nvSpPr>
          <p:cNvPr id="46" name="Title Placeholder 2">
            <a:extLst>
              <a:ext uri="{FF2B5EF4-FFF2-40B4-BE49-F238E27FC236}">
                <a16:creationId xmlns:a16="http://schemas.microsoft.com/office/drawing/2014/main" id="{780CAE6E-1E91-C589-92B7-A1C2E645A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4105656" y="504000"/>
            <a:ext cx="7618405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sz="2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of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5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F13215-DF3F-84FC-181D-28AAC5B966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5715F-53C1-8366-5642-A299DA8429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66636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6259E98-A45C-8354-3709-5471A2DFB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67461119-E326-F41A-C3F7-6F60F0325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2122636" y="3653890"/>
            <a:ext cx="7946728" cy="6093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of section</a:t>
            </a:r>
          </a:p>
        </p:txBody>
      </p:sp>
      <p:sp>
        <p:nvSpPr>
          <p:cNvPr id="21" name="Title Placeholder 2">
            <a:extLst>
              <a:ext uri="{FF2B5EF4-FFF2-40B4-BE49-F238E27FC236}">
                <a16:creationId xmlns:a16="http://schemas.microsoft.com/office/drawing/2014/main" id="{F88113C1-AB65-D428-899B-545C227EDD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2122636" y="2591872"/>
            <a:ext cx="7946728" cy="83099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Part X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CA786-F79C-654B-E344-E04484D201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720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333325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C915F09-36C5-271F-BFA7-C97BD55487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94624"/>
            <a:ext cx="12192000" cy="5463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E0EF1-B413-0A64-F524-8C707AABA7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66636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57F41ED-44AF-D34C-FA8C-A278231602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0DC00DB-A5B7-CBCD-9E2C-25EEE62C4E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920899" y="4297640"/>
            <a:ext cx="7946728" cy="6093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buNone/>
              <a:defRPr sz="4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of annex</a:t>
            </a:r>
          </a:p>
        </p:txBody>
      </p:sp>
      <p:sp>
        <p:nvSpPr>
          <p:cNvPr id="7" name="Title Placeholder 2">
            <a:extLst>
              <a:ext uri="{FF2B5EF4-FFF2-40B4-BE49-F238E27FC236}">
                <a16:creationId xmlns:a16="http://schemas.microsoft.com/office/drawing/2014/main" id="{155A43AE-10F2-A062-CD55-196B0C0F31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920899" y="3238229"/>
            <a:ext cx="7946728" cy="830997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Annex 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463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9BE559-67BD-BFE2-6B70-37C3902EDD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66636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62A061-B0B9-A4E4-B7ED-31AB137E01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20352" y="72000"/>
            <a:ext cx="751297" cy="123111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ctr"/>
            <a:r>
              <a:rPr lang="en-GB" sz="80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1AF274C-ADA4-D3DB-38EC-73DC750EAF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2333" y="0"/>
            <a:ext cx="4847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16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9AD0E7C-0CF4-9B32-F0DC-5DEEC72C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0000"/>
            <a:ext cx="41148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lang="en-US" sz="1050" i="0" kern="1200" cap="all" baseline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/>
              <a:t>SENSITIVITY MARKING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2A0B67-A808-6FB5-1EC1-EAD0A62DA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249" y="6565990"/>
            <a:ext cx="56741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318356DC-334E-1146-8C47-B0DA3BCDFC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B5BF0-C4EA-5B26-031E-06FF180AB9E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89B16-E386-8061-D4FC-113508B94A7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4512369-0278-6007-C0B2-5351671A40F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640" y="-87439"/>
            <a:ext cx="2496240" cy="16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44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0" r:id="rId2"/>
    <p:sldLayoutId id="2147483668" r:id="rId3"/>
    <p:sldLayoutId id="2147483652" r:id="rId4"/>
    <p:sldLayoutId id="2147483669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59" r:id="rId12"/>
    <p:sldLayoutId id="2147483658" r:id="rId13"/>
    <p:sldLayoutId id="2147483661" r:id="rId14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12169"/>
          </a:solidFill>
          <a:latin typeface="Helvetica Neue" panose="020005030000000200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1_3DEBE55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1_85C6C1C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8AFC73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B9AF-E317-791F-8EE1-54633BB4F3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2122636" y="2514903"/>
            <a:ext cx="7946728" cy="1828193"/>
          </a:xfrm>
        </p:spPr>
        <p:txBody>
          <a:bodyPr/>
          <a:lstStyle/>
          <a:p>
            <a:r>
              <a:rPr lang="en-US"/>
              <a:t>Investigating the Tax Gap 2013-2026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A2514-BC9E-66D4-EE46-83D5808446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William Kruczek</a:t>
            </a:r>
          </a:p>
        </p:txBody>
      </p:sp>
    </p:spTree>
    <p:extLst>
      <p:ext uri="{BB962C8B-B14F-4D97-AF65-F5344CB8AC3E}">
        <p14:creationId xmlns:p14="http://schemas.microsoft.com/office/powerpoint/2010/main" val="213785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504C5-F248-DEFF-CF1D-DDFFD52B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D54B-75E2-C6F6-DBED-3A7F13BF69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559399"/>
            <a:ext cx="7618405" cy="332399"/>
          </a:xfrm>
        </p:spPr>
        <p:txBody>
          <a:bodyPr/>
          <a:lstStyle/>
          <a:p>
            <a:r>
              <a:rPr lang="en-GB" sz="2400"/>
              <a:t>Understanding the Tax Gap</a:t>
            </a:r>
            <a:endParaRPr lang="en-US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06D69-EA9F-3BF8-4B89-56C425C53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837" y="1445796"/>
            <a:ext cx="8017164" cy="5187577"/>
          </a:xfrm>
          <a:prstGeom prst="rect">
            <a:avLst/>
          </a:prstGeom>
        </p:spPr>
      </p:pic>
      <p:sp>
        <p:nvSpPr>
          <p:cNvPr id="5" name="Shape 28">
            <a:extLst>
              <a:ext uri="{FF2B5EF4-FFF2-40B4-BE49-F238E27FC236}">
                <a16:creationId xmlns:a16="http://schemas.microsoft.com/office/drawing/2014/main" id="{3A174453-DB0A-2B08-4754-BE5EAD0C7F73}"/>
              </a:ext>
            </a:extLst>
          </p:cNvPr>
          <p:cNvSpPr/>
          <p:nvPr/>
        </p:nvSpPr>
        <p:spPr>
          <a:xfrm>
            <a:off x="10019259" y="1759644"/>
            <a:ext cx="1801287" cy="4110958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5FB2E-7B16-8734-7163-A297D0CA67C9}"/>
              </a:ext>
            </a:extLst>
          </p:cNvPr>
          <p:cNvSpPr txBox="1"/>
          <p:nvPr/>
        </p:nvSpPr>
        <p:spPr>
          <a:xfrm>
            <a:off x="10107007" y="1937686"/>
            <a:ext cx="17135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chemeClr val="bg1"/>
                </a:solidFill>
              </a:rPr>
              <a:t>The scope of this commission will be focusing on the Not collected category</a:t>
            </a:r>
            <a:br>
              <a:rPr lang="en-GB" sz="1400" b="1">
                <a:solidFill>
                  <a:schemeClr val="bg1"/>
                </a:solidFill>
              </a:rPr>
            </a:br>
            <a:br>
              <a:rPr lang="en-GB" sz="1400" b="1">
                <a:solidFill>
                  <a:schemeClr val="bg1"/>
                </a:solidFill>
              </a:rPr>
            </a:br>
            <a:r>
              <a:rPr lang="en-GB" sz="1400" b="1">
                <a:solidFill>
                  <a:schemeClr val="bg1"/>
                </a:solidFill>
              </a:rPr>
              <a:t>And investigating the breakdown of different Non Collection quantities via metrics 1 ,2, 3.</a:t>
            </a:r>
          </a:p>
          <a:p>
            <a:endParaRPr lang="en-GB" sz="1400" b="1">
              <a:solidFill>
                <a:schemeClr val="bg1"/>
              </a:solidFill>
            </a:endParaRPr>
          </a:p>
          <a:p>
            <a:r>
              <a:rPr lang="en-GB" sz="1400" b="1">
                <a:solidFill>
                  <a:schemeClr val="bg1"/>
                </a:solidFill>
              </a:rPr>
              <a:t>To better understand the dynamic billing authorities within this niche.</a:t>
            </a:r>
          </a:p>
        </p:txBody>
      </p:sp>
    </p:spTree>
    <p:extLst>
      <p:ext uri="{BB962C8B-B14F-4D97-AF65-F5344CB8AC3E}">
        <p14:creationId xmlns:p14="http://schemas.microsoft.com/office/powerpoint/2010/main" val="1038869848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6283-35E1-66FB-C17A-4829730A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C215-D568-F45E-2BC5-0B97A689C6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559399"/>
            <a:ext cx="7618405" cy="332399"/>
          </a:xfrm>
        </p:spPr>
        <p:txBody>
          <a:bodyPr/>
          <a:lstStyle/>
          <a:p>
            <a:r>
              <a:rPr lang="en-GB" sz="2400"/>
              <a:t>Understanding the Tax Gap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38C28-E0BC-5F63-A5D6-532474EC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68" y="1027238"/>
            <a:ext cx="11565264" cy="567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95460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32D9-6D7D-F857-824C-8661C606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D4A6A-806E-075C-8550-A58C7D5F4B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654874"/>
            <a:ext cx="7618405" cy="236924"/>
          </a:xfrm>
        </p:spPr>
        <p:txBody>
          <a:bodyPr/>
          <a:lstStyle/>
          <a:p>
            <a:pPr>
              <a:lnSpc>
                <a:spcPct val="103250"/>
              </a:lnSpc>
            </a:pPr>
            <a:r>
              <a:rPr lang="en-GB" sz="1600"/>
              <a:t>Billing Authorities Business Rates</a:t>
            </a:r>
            <a:endParaRPr lang="en-US" sz="1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01418-3421-9027-96E2-A6B31A235C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B2E79741-537B-C7AC-5D83-0CCAFD74FD9C}"/>
              </a:ext>
            </a:extLst>
          </p:cNvPr>
          <p:cNvSpPr/>
          <p:nvPr/>
        </p:nvSpPr>
        <p:spPr>
          <a:xfrm>
            <a:off x="188233" y="5561917"/>
            <a:ext cx="11678185" cy="1017465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1C8902F-E5C9-C7E4-0D82-29E0E8779616}"/>
              </a:ext>
            </a:extLst>
          </p:cNvPr>
          <p:cNvSpPr/>
          <p:nvPr/>
        </p:nvSpPr>
        <p:spPr>
          <a:xfrm>
            <a:off x="226336" y="5621048"/>
            <a:ext cx="11640082" cy="958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1600" b="1">
                <a:solidFill>
                  <a:schemeClr val="bg1"/>
                </a:solidFill>
              </a:rPr>
              <a:t>Net rates payable dropped from around £26bn to roughly £15bn in 2020-21 as retail, hospitality and leisure relief expanded, then recovered to £28.2bn by 2025-26. This is the denominator behind every rate chart in this pack; it moves with relief policy, independently of whether ratepayers are paying.</a:t>
            </a: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DB4AAD9-53BE-6EE3-045B-F1FD4BB7061F}"/>
              </a:ext>
            </a:extLst>
          </p:cNvPr>
          <p:cNvSpPr/>
          <p:nvPr/>
        </p:nvSpPr>
        <p:spPr>
          <a:xfrm>
            <a:off x="2286797" y="1552019"/>
            <a:ext cx="7618405" cy="3897755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79578A1-7EC7-BBB1-A091-484E2183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255" y="1615520"/>
            <a:ext cx="6733487" cy="3770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05EA3-E170-C985-B3AA-DAF07DB4AD1A}"/>
              </a:ext>
            </a:extLst>
          </p:cNvPr>
          <p:cNvSpPr txBox="1"/>
          <p:nvPr/>
        </p:nvSpPr>
        <p:spPr>
          <a:xfrm>
            <a:off x="7607543" y="836660"/>
            <a:ext cx="4258875" cy="3170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4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A single-year pilot across 296 billing authorities</a:t>
            </a:r>
          </a:p>
        </p:txBody>
      </p:sp>
    </p:spTree>
    <p:extLst>
      <p:ext uri="{BB962C8B-B14F-4D97-AF65-F5344CB8AC3E}">
        <p14:creationId xmlns:p14="http://schemas.microsoft.com/office/powerpoint/2010/main" val="41136934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D9C14-7761-0F81-40CB-F9839A3F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6">
            <a:extLst>
              <a:ext uri="{FF2B5EF4-FFF2-40B4-BE49-F238E27FC236}">
                <a16:creationId xmlns:a16="http://schemas.microsoft.com/office/drawing/2014/main" id="{E6BEE605-4AFF-3172-9E42-3BA0E2B4383E}"/>
              </a:ext>
            </a:extLst>
          </p:cNvPr>
          <p:cNvSpPr/>
          <p:nvPr/>
        </p:nvSpPr>
        <p:spPr>
          <a:xfrm>
            <a:off x="188937" y="1579785"/>
            <a:ext cx="5724182" cy="3897754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6C066C1-5BBC-1EC5-7E71-E7074DB134F9}"/>
              </a:ext>
            </a:extLst>
          </p:cNvPr>
          <p:cNvSpPr/>
          <p:nvPr/>
        </p:nvSpPr>
        <p:spPr>
          <a:xfrm>
            <a:off x="6192174" y="1556595"/>
            <a:ext cx="5528021" cy="3897754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BCF50-748C-5137-C7C5-A9A36AEFE4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227001"/>
            <a:ext cx="7618405" cy="664797"/>
          </a:xfrm>
        </p:spPr>
        <p:txBody>
          <a:bodyPr/>
          <a:lstStyle/>
          <a:p>
            <a:r>
              <a:rPr lang="en-GB" sz="2400"/>
              <a:t>Net write-offs reached £264.9m in 2025-26, 0.94% of net rates payable</a:t>
            </a:r>
            <a:endParaRPr 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66FF3-E7FF-0537-07B0-6931280C29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B0CEB71-0C9E-84DD-3EEA-B38D4B41C437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E0BE5-77A9-A532-0ACA-FFAA6561F825}"/>
              </a:ext>
            </a:extLst>
          </p:cNvPr>
          <p:cNvSpPr txBox="1"/>
          <p:nvPr/>
        </p:nvSpPr>
        <p:spPr>
          <a:xfrm>
            <a:off x="4187701" y="878482"/>
            <a:ext cx="769989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400" b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A single-year pilot across 296 billing authorities</a:t>
            </a:r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E6DF9C2B-89B7-87AE-0436-72F6A21F1BFC}"/>
              </a:ext>
            </a:extLst>
          </p:cNvPr>
          <p:cNvSpPr/>
          <p:nvPr/>
        </p:nvSpPr>
        <p:spPr>
          <a:xfrm>
            <a:off x="188936" y="5594921"/>
            <a:ext cx="5724183" cy="742562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29">
            <a:extLst>
              <a:ext uri="{FF2B5EF4-FFF2-40B4-BE49-F238E27FC236}">
                <a16:creationId xmlns:a16="http://schemas.microsoft.com/office/drawing/2014/main" id="{A4ECC9FB-0E40-DFB1-8BEC-CDC8EEE2393B}"/>
              </a:ext>
            </a:extLst>
          </p:cNvPr>
          <p:cNvSpPr/>
          <p:nvPr/>
        </p:nvSpPr>
        <p:spPr>
          <a:xfrm>
            <a:off x="188936" y="5725317"/>
            <a:ext cx="5687007" cy="474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GB" sz="1100" b="1">
                <a:solidFill>
                  <a:schemeClr val="bg1"/>
                </a:solidFill>
              </a:rPr>
              <a:t>Write-off rates vary across billing authorities; the pattern below is a first look and specific regional areas do not show any significant clustering.</a:t>
            </a:r>
            <a:endParaRPr lang="en-US" sz="1100" b="1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5F0202CA-804C-849F-3F99-9E720D030336}"/>
              </a:ext>
            </a:extLst>
          </p:cNvPr>
          <p:cNvSpPr/>
          <p:nvPr/>
        </p:nvSpPr>
        <p:spPr>
          <a:xfrm>
            <a:off x="6196039" y="5594922"/>
            <a:ext cx="5528021" cy="742562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D37B84C5-83F1-9FB8-87E5-35E6DE9D231E}"/>
              </a:ext>
            </a:extLst>
          </p:cNvPr>
          <p:cNvSpPr/>
          <p:nvPr/>
        </p:nvSpPr>
        <p:spPr>
          <a:xfrm>
            <a:off x="6231814" y="5738630"/>
            <a:ext cx="5448739" cy="50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GB" sz="1100" b="1">
                <a:solidFill>
                  <a:schemeClr val="bg1"/>
                </a:solidFill>
              </a:rPr>
              <a:t>Nearly all of the 2025-26 figure sits in charged to the allowance, £267.7m. Write-backs in excess of the allowance is a small net negative (−£2.8m)</a:t>
            </a:r>
            <a:endParaRPr lang="en-US" sz="11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D56742-BE92-DC38-12FA-5D0C233D9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" r="7568" b="3949"/>
          <a:stretch>
            <a:fillRect/>
          </a:stretch>
        </p:blipFill>
        <p:spPr>
          <a:xfrm>
            <a:off x="6192174" y="1921200"/>
            <a:ext cx="5336984" cy="310311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A9E2984-83F0-D862-919A-13ABE1D5F947}"/>
              </a:ext>
            </a:extLst>
          </p:cNvPr>
          <p:cNvSpPr/>
          <p:nvPr/>
        </p:nvSpPr>
        <p:spPr>
          <a:xfrm>
            <a:off x="6231814" y="1778194"/>
            <a:ext cx="3285812" cy="529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5D89E0-FF72-4177-48ED-7C0CEE38E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329" y="1595570"/>
            <a:ext cx="2471998" cy="3045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139F424-A66B-A38B-B173-78ECD2E16E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96"/>
          <a:stretch>
            <a:fillRect/>
          </a:stretch>
        </p:blipFill>
        <p:spPr>
          <a:xfrm>
            <a:off x="1842576" y="1599272"/>
            <a:ext cx="4044644" cy="385877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AD5DBF-4CB1-3E8A-2D1D-03C299315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17426" r="25894" b="20164"/>
          <a:stretch>
            <a:fillRect/>
          </a:stretch>
        </p:blipFill>
        <p:spPr>
          <a:xfrm>
            <a:off x="312346" y="2533156"/>
            <a:ext cx="2502349" cy="19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57095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C490-3D57-50AF-BBF4-6A0DDA82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0">
            <a:extLst>
              <a:ext uri="{FF2B5EF4-FFF2-40B4-BE49-F238E27FC236}">
                <a16:creationId xmlns:a16="http://schemas.microsoft.com/office/drawing/2014/main" id="{57497761-7ED8-9BA6-A832-8E25D2DD1AF0}"/>
              </a:ext>
            </a:extLst>
          </p:cNvPr>
          <p:cNvSpPr/>
          <p:nvPr/>
        </p:nvSpPr>
        <p:spPr>
          <a:xfrm>
            <a:off x="188233" y="6565990"/>
            <a:ext cx="4274038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80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500FEF-7A5E-1DE4-B368-78C12146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369" y="27294"/>
            <a:ext cx="8858545" cy="775597"/>
          </a:xfrm>
        </p:spPr>
        <p:txBody>
          <a:bodyPr/>
          <a:lstStyle/>
          <a:p>
            <a:r>
              <a:rPr lang="en-GB"/>
              <a:t>Before debt is written off, it accumulates as arrears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0A90760-7C99-8089-777B-6139BCB75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60" y="1260635"/>
            <a:ext cx="11273879" cy="530535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B061C7-FA00-6CB6-2033-80EC4FE35656}"/>
              </a:ext>
            </a:extLst>
          </p:cNvPr>
          <p:cNvSpPr txBox="1"/>
          <p:nvPr/>
        </p:nvSpPr>
        <p:spPr>
          <a:xfrm>
            <a:off x="2927758" y="864066"/>
            <a:ext cx="9007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>
                <a:solidFill>
                  <a:schemeClr val="tx1">
                    <a:lumMod val="50000"/>
                    <a:lumOff val="50000"/>
                  </a:schemeClr>
                </a:solidFill>
              </a:rPr>
              <a:t>Before debt is written off, it accumulates as arrears. Arrears is where the tax gap begins</a:t>
            </a:r>
          </a:p>
        </p:txBody>
      </p:sp>
    </p:spTree>
    <p:extLst>
      <p:ext uri="{BB962C8B-B14F-4D97-AF65-F5344CB8AC3E}">
        <p14:creationId xmlns:p14="http://schemas.microsoft.com/office/powerpoint/2010/main" val="400535599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BE270-C407-5BD2-151F-796A325E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0B9D-62CA-0FAF-641D-089F45BA3E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337800"/>
            <a:ext cx="7618405" cy="553998"/>
          </a:xfrm>
        </p:spPr>
        <p:txBody>
          <a:bodyPr/>
          <a:lstStyle/>
          <a:p>
            <a:r>
              <a:rPr lang="en-GB" sz="2000"/>
              <a:t>Arrears outstanding rose sharply during COVID and remain above pre-pandemic levels</a:t>
            </a: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B58C3E-672C-BFEB-7C7B-F59416C74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2F68CCF-6433-BD8E-D2F5-2157D1832176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6489090-52F7-D2D9-0CAE-68FDDDCA80DD}"/>
              </a:ext>
            </a:extLst>
          </p:cNvPr>
          <p:cNvSpPr txBox="1">
            <a:spLocks/>
          </p:cNvSpPr>
          <p:nvPr/>
        </p:nvSpPr>
        <p:spPr>
          <a:xfrm>
            <a:off x="4196080" y="889503"/>
            <a:ext cx="7995920" cy="319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1200" b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median LA approved 68% of requests for assessment, ranging from 26% to 96% across authorities</a:t>
            </a:r>
            <a:endParaRPr lang="en-US" sz="120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45290E2-A324-0469-9001-80874733CF9F}"/>
              </a:ext>
            </a:extLst>
          </p:cNvPr>
          <p:cNvSpPr/>
          <p:nvPr/>
        </p:nvSpPr>
        <p:spPr>
          <a:xfrm>
            <a:off x="153909" y="1666274"/>
            <a:ext cx="5657248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41025AF-DDE9-D206-13FA-64DECD69BA22}"/>
              </a:ext>
            </a:extLst>
          </p:cNvPr>
          <p:cNvSpPr/>
          <p:nvPr/>
        </p:nvSpPr>
        <p:spPr>
          <a:xfrm>
            <a:off x="6133207" y="1652542"/>
            <a:ext cx="5588599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19">
            <a:extLst>
              <a:ext uri="{FF2B5EF4-FFF2-40B4-BE49-F238E27FC236}">
                <a16:creationId xmlns:a16="http://schemas.microsoft.com/office/drawing/2014/main" id="{BA5E480C-4F7F-3EA2-DC63-4D4E03FBB38C}"/>
              </a:ext>
            </a:extLst>
          </p:cNvPr>
          <p:cNvSpPr/>
          <p:nvPr/>
        </p:nvSpPr>
        <p:spPr>
          <a:xfrm>
            <a:off x="6242598" y="5274898"/>
            <a:ext cx="5335994" cy="580618"/>
          </a:xfrm>
          <a:prstGeom prst="rect">
            <a:avLst/>
          </a:prstGeom>
          <a:solidFill>
            <a:srgbClr val="F4F8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20">
            <a:extLst>
              <a:ext uri="{FF2B5EF4-FFF2-40B4-BE49-F238E27FC236}">
                <a16:creationId xmlns:a16="http://schemas.microsoft.com/office/drawing/2014/main" id="{6B528825-FC25-C7E6-D612-BC6459FCCEBE}"/>
              </a:ext>
            </a:extLst>
          </p:cNvPr>
          <p:cNvSpPr/>
          <p:nvPr/>
        </p:nvSpPr>
        <p:spPr>
          <a:xfrm>
            <a:off x="6242598" y="5274898"/>
            <a:ext cx="53427" cy="579482"/>
          </a:xfrm>
          <a:prstGeom prst="rect">
            <a:avLst/>
          </a:prstGeom>
          <a:solidFill>
            <a:srgbClr val="8529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88E57950-8E02-9C53-53AE-92B90855F61D}"/>
              </a:ext>
            </a:extLst>
          </p:cNvPr>
          <p:cNvSpPr/>
          <p:nvPr/>
        </p:nvSpPr>
        <p:spPr>
          <a:xfrm>
            <a:off x="6409139" y="5370148"/>
            <a:ext cx="4899221" cy="484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23103"/>
              </a:lnSpc>
            </a:pPr>
            <a:r>
              <a:rPr lang="en-GB" sz="1100"/>
              <a:t>As a share of net rates payable, arrears rose from around 5% pre-COVID to 16.7% at the 2020-21 peak, and have eased to about 9.2%.</a:t>
            </a:r>
            <a:endParaRPr lang="en-US" sz="110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5CB8A68-B2B2-332A-25D8-A1508BC061F8}"/>
              </a:ext>
            </a:extLst>
          </p:cNvPr>
          <p:cNvSpPr/>
          <p:nvPr/>
        </p:nvSpPr>
        <p:spPr>
          <a:xfrm>
            <a:off x="229527" y="5284864"/>
            <a:ext cx="5506011" cy="569516"/>
          </a:xfrm>
          <a:prstGeom prst="rect">
            <a:avLst/>
          </a:prstGeom>
          <a:solidFill>
            <a:srgbClr val="F4F8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CA508CC-547F-EF0E-DB62-4425EE93BD61}"/>
              </a:ext>
            </a:extLst>
          </p:cNvPr>
          <p:cNvSpPr/>
          <p:nvPr/>
        </p:nvSpPr>
        <p:spPr>
          <a:xfrm>
            <a:off x="229527" y="5284864"/>
            <a:ext cx="66336" cy="569516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C75F6AC6-7B4C-936E-E500-0F7EB5A46678}"/>
              </a:ext>
            </a:extLst>
          </p:cNvPr>
          <p:cNvSpPr/>
          <p:nvPr/>
        </p:nvSpPr>
        <p:spPr>
          <a:xfrm>
            <a:off x="439077" y="5399164"/>
            <a:ext cx="4996523" cy="45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23103"/>
              </a:lnSpc>
            </a:pPr>
            <a:r>
              <a:rPr lang="en-GB" sz="1400"/>
              <a:t>Arrears rose from around £1.3bn pre-COVID to a peak near £2.5bn in 2020-21, and stood at £2.58bn in 2025-26.</a:t>
            </a:r>
            <a:endParaRPr lang="en-US" sz="1275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327B6-67E5-47E7-C4E6-A2FDCB778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08" y="1887873"/>
            <a:ext cx="5503022" cy="30816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7EB6AC-9935-B408-6815-7CBFCBC41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170" y="1887873"/>
            <a:ext cx="5480671" cy="306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3865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5ACD-6153-C0DB-6497-D98D47818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550E-533D-1B43-7045-19387A043D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337800"/>
            <a:ext cx="7618405" cy="553998"/>
          </a:xfrm>
        </p:spPr>
        <p:txBody>
          <a:bodyPr/>
          <a:lstStyle/>
          <a:p>
            <a:r>
              <a:rPr lang="en-GB" sz="2000"/>
              <a:t>Arrears outstanding rose sharply during COVID and remain above pre-pandemic levels</a:t>
            </a: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0F3A6E-2A33-3789-16C4-7A2FE335BC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C129B78-334C-D264-7F14-17147E564E79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3EC02519-FA0F-B710-1335-8F93C8FA7021}"/>
              </a:ext>
            </a:extLst>
          </p:cNvPr>
          <p:cNvSpPr txBox="1">
            <a:spLocks/>
          </p:cNvSpPr>
          <p:nvPr/>
        </p:nvSpPr>
        <p:spPr>
          <a:xfrm>
            <a:off x="4440629" y="904066"/>
            <a:ext cx="7995920" cy="319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1100" b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median LA approved 68% of requests for assessment, ranging from 26% to 96% across authorities</a:t>
            </a:r>
            <a:endParaRPr lang="en-US" sz="110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23D6263-F555-51C7-C82D-1CFB5744145A}"/>
              </a:ext>
            </a:extLst>
          </p:cNvPr>
          <p:cNvSpPr/>
          <p:nvPr/>
        </p:nvSpPr>
        <p:spPr>
          <a:xfrm>
            <a:off x="211966" y="1760743"/>
            <a:ext cx="6113155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4CBCA0-FA73-4915-4294-4E26F69D3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7" y="1805009"/>
            <a:ext cx="5850171" cy="4225126"/>
          </a:xfrm>
          <a:prstGeom prst="rect">
            <a:avLst/>
          </a:prstGeom>
        </p:spPr>
      </p:pic>
      <p:sp>
        <p:nvSpPr>
          <p:cNvPr id="27" name="Shape 6">
            <a:extLst>
              <a:ext uri="{FF2B5EF4-FFF2-40B4-BE49-F238E27FC236}">
                <a16:creationId xmlns:a16="http://schemas.microsoft.com/office/drawing/2014/main" id="{A7FF34C4-7B87-3315-2412-0AD306AE865B}"/>
              </a:ext>
            </a:extLst>
          </p:cNvPr>
          <p:cNvSpPr/>
          <p:nvPr/>
        </p:nvSpPr>
        <p:spPr>
          <a:xfrm>
            <a:off x="6456612" y="1760743"/>
            <a:ext cx="5509052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pPr marL="342900" lvl="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2800" b="1"/>
              <a:t>Arrears reached </a:t>
            </a:r>
            <a:r>
              <a:rPr lang="en-GB" sz="2800" b="1">
                <a:solidFill>
                  <a:schemeClr val="tx2"/>
                </a:solidFill>
              </a:rPr>
              <a:t>£2.58bn </a:t>
            </a:r>
            <a:r>
              <a:rPr lang="en-GB" sz="2800" b="1"/>
              <a:t>in 2025-26, up from ~£1.3bn pre-COVID</a:t>
            </a:r>
          </a:p>
          <a:p>
            <a:pPr lvl="0">
              <a:buClr>
                <a:schemeClr val="tx2"/>
              </a:buClr>
            </a:pPr>
            <a:endParaRPr lang="en-GB" sz="2800"/>
          </a:p>
          <a:p>
            <a:pPr marL="342900" lvl="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2800" b="1"/>
              <a:t>As a share of net rates payable: </a:t>
            </a:r>
            <a:r>
              <a:rPr lang="en-GB" sz="2800" b="1">
                <a:solidFill>
                  <a:schemeClr val="tx2"/>
                </a:solidFill>
              </a:rPr>
              <a:t>5% → 16.7% peak (2020-21) → 9.2% now. </a:t>
            </a:r>
            <a:r>
              <a:rPr lang="en-GB" sz="2800" b="1"/>
              <a:t>Still roughly </a:t>
            </a:r>
            <a:r>
              <a:rPr lang="en-GB" sz="2800" b="1">
                <a:solidFill>
                  <a:schemeClr val="tx2"/>
                </a:solidFill>
              </a:rPr>
              <a:t>2x</a:t>
            </a:r>
            <a:r>
              <a:rPr lang="en-GB" sz="2800" b="1"/>
              <a:t> the pre-pandemic level five years on</a:t>
            </a:r>
          </a:p>
        </p:txBody>
      </p:sp>
    </p:spTree>
    <p:extLst>
      <p:ext uri="{BB962C8B-B14F-4D97-AF65-F5344CB8AC3E}">
        <p14:creationId xmlns:p14="http://schemas.microsoft.com/office/powerpoint/2010/main" val="39004605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4EDA9-2A82-65B8-3171-C744FEC8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566BE-BC19-94A6-40C3-0076BB7EA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FDB0EE9-9DEC-AAA3-9BFA-361364B355D8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74F1FA8-0798-10F8-767D-754D8C5C94C1}"/>
              </a:ext>
            </a:extLst>
          </p:cNvPr>
          <p:cNvSpPr txBox="1">
            <a:spLocks/>
          </p:cNvSpPr>
          <p:nvPr/>
        </p:nvSpPr>
        <p:spPr>
          <a:xfrm>
            <a:off x="4196080" y="943897"/>
            <a:ext cx="7995920" cy="5076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1200" b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Below time series shows that generally property count rises YoY, till 18-19 where there is a systemic decrease following this peak. Retail is an outlier showing little deviation across the entire time sample.</a:t>
            </a:r>
            <a:endParaRPr lang="en-US" sz="120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4B84A4-1F67-124A-7079-722951795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551" y="614799"/>
            <a:ext cx="7618405" cy="387798"/>
          </a:xfrm>
        </p:spPr>
        <p:txBody>
          <a:bodyPr/>
          <a:lstStyle/>
          <a:p>
            <a:r>
              <a:rPr lang="en-GB"/>
              <a:t>Further Breaking down Arrears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D00F79C-FF99-E2B5-CA7B-9D5431A5284B}"/>
              </a:ext>
            </a:extLst>
          </p:cNvPr>
          <p:cNvSpPr/>
          <p:nvPr/>
        </p:nvSpPr>
        <p:spPr>
          <a:xfrm>
            <a:off x="6165856" y="1790987"/>
            <a:ext cx="5657248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37479CD-FBE8-B26C-0297-185939904CFB}"/>
              </a:ext>
            </a:extLst>
          </p:cNvPr>
          <p:cNvSpPr/>
          <p:nvPr/>
        </p:nvSpPr>
        <p:spPr>
          <a:xfrm>
            <a:off x="177520" y="1818673"/>
            <a:ext cx="5657248" cy="431365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6B8BC4-805F-859B-56DB-FF7BF853D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94" y="2116788"/>
            <a:ext cx="5482299" cy="3350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D6A1DB-9403-B41E-097F-9B2DB3DD0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1"/>
          <a:stretch>
            <a:fillRect/>
          </a:stretch>
        </p:blipFill>
        <p:spPr>
          <a:xfrm>
            <a:off x="6275517" y="2259884"/>
            <a:ext cx="5437925" cy="337586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781C1CB-2D38-B62A-74A7-C8C6A3B829FA}"/>
              </a:ext>
            </a:extLst>
          </p:cNvPr>
          <p:cNvSpPr/>
          <p:nvPr/>
        </p:nvSpPr>
        <p:spPr>
          <a:xfrm>
            <a:off x="6914958" y="5188357"/>
            <a:ext cx="1671781" cy="9439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050"/>
              <a:t>Colour match bars to the line graph</a:t>
            </a:r>
          </a:p>
        </p:txBody>
      </p:sp>
    </p:spTree>
    <p:extLst>
      <p:ext uri="{BB962C8B-B14F-4D97-AF65-F5344CB8AC3E}">
        <p14:creationId xmlns:p14="http://schemas.microsoft.com/office/powerpoint/2010/main" val="85933499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B7D3-4974-5C43-6138-152AD0F1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19623-E795-E829-53D0-7A33B8F0B9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E7531E8-5D42-D923-0AD8-36DEFBCF3549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9AD9F19C-DA56-B762-25A6-66E8FBE5DD62}"/>
              </a:ext>
            </a:extLst>
          </p:cNvPr>
          <p:cNvSpPr txBox="1">
            <a:spLocks/>
          </p:cNvSpPr>
          <p:nvPr/>
        </p:nvSpPr>
        <p:spPr>
          <a:xfrm>
            <a:off x="5284032" y="918901"/>
            <a:ext cx="6681631" cy="4706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1200" b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Given that retail remains the most established and consistent property sector showing little variation in count over the time series, how does it pertain to the rise in arrears? </a:t>
            </a:r>
            <a:endParaRPr lang="en-US" sz="120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5576A26-0FD7-DB3A-E4C8-85E36B36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551" y="227000"/>
            <a:ext cx="7618405" cy="775597"/>
          </a:xfrm>
        </p:spPr>
        <p:txBody>
          <a:bodyPr/>
          <a:lstStyle/>
          <a:p>
            <a:r>
              <a:rPr lang="en-GB"/>
              <a:t>The relationship between Arrears and distinct sectors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5CDD07B-4329-9C8B-9882-60027F178DEC}"/>
              </a:ext>
            </a:extLst>
          </p:cNvPr>
          <p:cNvSpPr/>
          <p:nvPr/>
        </p:nvSpPr>
        <p:spPr>
          <a:xfrm>
            <a:off x="153909" y="1666274"/>
            <a:ext cx="7033700" cy="4450991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EB2B1-1760-6898-5604-9596F0525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89" y="1862165"/>
            <a:ext cx="6642339" cy="4059207"/>
          </a:xfrm>
          <a:prstGeom prst="rect">
            <a:avLst/>
          </a:prstGeom>
        </p:spPr>
      </p:pic>
      <p:sp>
        <p:nvSpPr>
          <p:cNvPr id="13" name="Shape 6">
            <a:extLst>
              <a:ext uri="{FF2B5EF4-FFF2-40B4-BE49-F238E27FC236}">
                <a16:creationId xmlns:a16="http://schemas.microsoft.com/office/drawing/2014/main" id="{AAE8B502-EFFC-64CE-5AA7-63042C3C4EF5}"/>
              </a:ext>
            </a:extLst>
          </p:cNvPr>
          <p:cNvSpPr/>
          <p:nvPr/>
        </p:nvSpPr>
        <p:spPr>
          <a:xfrm>
            <a:off x="7501437" y="1666037"/>
            <a:ext cx="4180519" cy="4450990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/>
                </a:solidFill>
              </a:rPr>
              <a:t>Retail share and arrears are positively associated, but weakly.</a:t>
            </a:r>
            <a:r>
              <a:rPr lang="en-GB" sz="2000">
                <a:solidFill>
                  <a:schemeClr val="tx2"/>
                </a:solidFill>
              </a:rPr>
              <a:t> </a:t>
            </a:r>
            <a:r>
              <a:rPr lang="en-GB" sz="2000"/>
              <a:t>ρ = 0.36 across 296 billing authorities in 2025-26. Authorities with a higher retail share of stock do tend to run higher arrears rates, so </a:t>
            </a:r>
            <a:r>
              <a:rPr lang="en-GB" sz="2000" b="1"/>
              <a:t>retail mix is one contributor among several, not the driver.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/>
                </a:solidFill>
              </a:rPr>
              <a:t>Retail isn't declining, it's static.</a:t>
            </a:r>
            <a:r>
              <a:rPr lang="en-GB" sz="2000">
                <a:solidFill>
                  <a:schemeClr val="tx2"/>
                </a:solidFill>
              </a:rPr>
              <a:t> </a:t>
            </a:r>
            <a:r>
              <a:rPr lang="en-GB" sz="2000"/>
              <a:t>Share fell 27%→24% by dilution, with all the other sectors growing by more than 15%</a:t>
            </a:r>
            <a:endParaRPr lang="en-GB" sz="2000" b="1"/>
          </a:p>
        </p:txBody>
      </p:sp>
    </p:spTree>
    <p:extLst>
      <p:ext uri="{BB962C8B-B14F-4D97-AF65-F5344CB8AC3E}">
        <p14:creationId xmlns:p14="http://schemas.microsoft.com/office/powerpoint/2010/main" val="41601232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FC6EA-CF2E-8D6A-D5B9-B8CA9D94D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729FA-BD06-1E79-CFCF-88647E67DC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F53F0AC-3346-F1BA-A7A5-C94DB6557C24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42C1905-23E4-1241-08CD-F4ECC544E008}"/>
              </a:ext>
            </a:extLst>
          </p:cNvPr>
          <p:cNvSpPr txBox="1">
            <a:spLocks/>
          </p:cNvSpPr>
          <p:nvPr/>
        </p:nvSpPr>
        <p:spPr>
          <a:xfrm>
            <a:off x="3943785" y="915826"/>
            <a:ext cx="7857936" cy="3321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GB" sz="1200" b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focusing on a single year time series, tracking the YoY change in arrears and property stock</a:t>
            </a:r>
            <a:endParaRPr lang="en-US" sz="120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FFD095B-828F-2563-569F-C28FAC068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551" y="227000"/>
            <a:ext cx="7618405" cy="775597"/>
          </a:xfrm>
        </p:spPr>
        <p:txBody>
          <a:bodyPr/>
          <a:lstStyle/>
          <a:p>
            <a:r>
              <a:rPr lang="en-GB"/>
              <a:t>Has the sector-arrears relationship held over time?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D625E48-7ABB-4C82-74C6-D4BE5B886430}"/>
              </a:ext>
            </a:extLst>
          </p:cNvPr>
          <p:cNvSpPr txBox="1">
            <a:spLocks/>
          </p:cNvSpPr>
          <p:nvPr/>
        </p:nvSpPr>
        <p:spPr>
          <a:xfrm>
            <a:off x="9042769" y="1591930"/>
            <a:ext cx="2887974" cy="36741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GB" sz="1400" b="1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Then why still use SOP with single years analysis?</a:t>
            </a:r>
          </a:p>
          <a:p>
            <a:pPr marL="0" indent="0">
              <a:buNone/>
            </a:pPr>
            <a:r>
              <a:rPr lang="en-GB" sz="1100" b="1"/>
              <a:t>Because the two answer different questions, and only one of them failed.</a:t>
            </a:r>
          </a:p>
          <a:p>
            <a:pPr>
              <a:buClr>
                <a:schemeClr val="tx2"/>
              </a:buClr>
            </a:pPr>
            <a:r>
              <a:rPr lang="en-GB" sz="1100" b="1"/>
              <a:t>The cross-section (ρ = 0.36) is a valid statement about </a:t>
            </a:r>
            <a:r>
              <a:rPr lang="en-GB" sz="1100" b="1" i="1"/>
              <a:t>which authorities</a:t>
            </a:r>
            <a:r>
              <a:rPr lang="en-GB" sz="1100" b="1"/>
              <a:t> carry more arrears. Retail-heavy authorities genuinely do run higher rates that structural difference is real and useful for targeting.</a:t>
            </a:r>
          </a:p>
          <a:p>
            <a:pPr>
              <a:buClr>
                <a:schemeClr val="tx2"/>
              </a:buClr>
            </a:pPr>
            <a:r>
              <a:rPr lang="en-GB" sz="1100" b="1"/>
              <a:t>What differencing kills is the causal reading. Retail share moves barely ±1% a year against arrears swings of ±30%, so there is too little movement to detect an effect either way. </a:t>
            </a:r>
            <a:endParaRPr lang="en-GB" sz="900" b="1"/>
          </a:p>
          <a:p>
            <a:pPr marL="0" indent="0">
              <a:buNone/>
            </a:pPr>
            <a:r>
              <a:rPr lang="en-GB" sz="1200" b="1"/>
              <a:t>So </a:t>
            </a:r>
            <a:r>
              <a:rPr lang="en-GB" sz="1200" b="1">
                <a:solidFill>
                  <a:schemeClr val="tx2"/>
                </a:solidFill>
              </a:rPr>
              <a:t>SOP describes, it doesn't predict</a:t>
            </a:r>
            <a:r>
              <a:rPr lang="en-GB" sz="1200" b="1"/>
              <a:t>. It marks out which authorities sit in the higher-risk group; it cannot explain why arrears rose. That is precisely why the next section stops asking </a:t>
            </a:r>
            <a:r>
              <a:rPr lang="en-GB" sz="1200" b="1" i="1">
                <a:solidFill>
                  <a:schemeClr val="tx2"/>
                </a:solidFill>
              </a:rPr>
              <a:t>which sectors</a:t>
            </a:r>
            <a:r>
              <a:rPr lang="en-GB" sz="1200" b="1">
                <a:solidFill>
                  <a:schemeClr val="tx2"/>
                </a:solidFill>
              </a:rPr>
              <a:t> </a:t>
            </a:r>
            <a:r>
              <a:rPr lang="en-GB" sz="1200" b="1"/>
              <a:t>and starts asking </a:t>
            </a:r>
            <a:r>
              <a:rPr lang="en-GB" sz="1200" b="1" i="1">
                <a:solidFill>
                  <a:schemeClr val="tx2"/>
                </a:solidFill>
              </a:rPr>
              <a:t>which authorities</a:t>
            </a:r>
            <a:r>
              <a:rPr lang="en-GB" sz="1200" b="1" i="1"/>
              <a:t>.</a:t>
            </a:r>
            <a:endParaRPr lang="en-GB" sz="1050" b="1"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B23B80-8584-36AB-03F0-7768EE3C624F}"/>
              </a:ext>
            </a:extLst>
          </p:cNvPr>
          <p:cNvSpPr/>
          <p:nvPr/>
        </p:nvSpPr>
        <p:spPr>
          <a:xfrm>
            <a:off x="3278257" y="1962237"/>
            <a:ext cx="5635486" cy="367413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1982AC-9E3E-9618-70A1-C519651D6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941" y="2073037"/>
            <a:ext cx="5558118" cy="33966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C3372E7-16EB-4FF9-72EA-BF80C3CABFD7}"/>
              </a:ext>
            </a:extLst>
          </p:cNvPr>
          <p:cNvSpPr/>
          <p:nvPr/>
        </p:nvSpPr>
        <p:spPr>
          <a:xfrm>
            <a:off x="6551091" y="3972563"/>
            <a:ext cx="1671781" cy="9439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050"/>
              <a:t>Remove t comment in caption, colour code matching bar chart theme 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5AE8E94-0707-7546-44B5-AF79A09E21EF}"/>
              </a:ext>
            </a:extLst>
          </p:cNvPr>
          <p:cNvSpPr txBox="1">
            <a:spLocks/>
          </p:cNvSpPr>
          <p:nvPr/>
        </p:nvSpPr>
        <p:spPr>
          <a:xfrm>
            <a:off x="261257" y="1705986"/>
            <a:ext cx="2946426" cy="3683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GB" sz="2000" b="1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T</a:t>
            </a:r>
            <a:r>
              <a:rPr lang="en-GB" sz="2000" b="1">
                <a:solidFill>
                  <a:schemeClr val="tx2"/>
                </a:solidFill>
              </a:rPr>
              <a:t>ells us SOP cannot reliably predict </a:t>
            </a:r>
            <a:r>
              <a:rPr lang="en-GB" sz="2000" b="1"/>
              <a:t>a billing authority's propensity to accrue arrears. </a:t>
            </a:r>
          </a:p>
          <a:p>
            <a:pPr marL="0" indent="0">
              <a:lnSpc>
                <a:spcPct val="115714"/>
              </a:lnSpc>
              <a:buNone/>
            </a:pPr>
            <a:r>
              <a:rPr lang="en-GB" sz="2000" b="1"/>
              <a:t>Once fixed authority characteristics are differenced out, movement in the tax base does not move arrears.</a:t>
            </a:r>
            <a:endParaRPr lang="en-GB" sz="2000" b="1"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1B465-C01D-7127-E568-52DACDFF5361}"/>
              </a:ext>
            </a:extLst>
          </p:cNvPr>
          <p:cNvSpPr txBox="1"/>
          <p:nvPr/>
        </p:nvSpPr>
        <p:spPr>
          <a:xfrm>
            <a:off x="3172807" y="5703218"/>
            <a:ext cx="82254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b="1" i="1">
                <a:solidFill>
                  <a:schemeClr val="tx2"/>
                </a:solidFill>
                <a:ea typeface="Arial" pitchFamily="34" charset="-122"/>
                <a:cs typeface="Arial" pitchFamily="34" charset="-120"/>
              </a:rPr>
              <a:t>*SOP = Stock of Properties</a:t>
            </a:r>
            <a:endParaRPr lang="en-GB" sz="800" i="1"/>
          </a:p>
        </p:txBody>
      </p:sp>
    </p:spTree>
    <p:extLst>
      <p:ext uri="{BB962C8B-B14F-4D97-AF65-F5344CB8AC3E}">
        <p14:creationId xmlns:p14="http://schemas.microsoft.com/office/powerpoint/2010/main" val="382352722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2ABF0-B22D-9F48-8153-5961326D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264B-5001-80A8-A3D1-3617BBE288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401279"/>
            <a:ext cx="7618405" cy="490519"/>
          </a:xfrm>
        </p:spPr>
        <p:txBody>
          <a:bodyPr/>
          <a:lstStyle/>
          <a:p>
            <a:pPr algn="l">
              <a:lnSpc>
                <a:spcPct val="103250"/>
              </a:lnSpc>
            </a:pPr>
            <a:r>
              <a:rPr lang="en-GB" sz="1600"/>
              <a:t>Net write-offs have grown across the series, but the shape reflects COVID and data immaturity more than a clean trend</a:t>
            </a:r>
            <a:endParaRPr lang="en-US" sz="1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56EF4-EA99-7E19-3A9C-4682FDE60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EF7673F-7CE2-F852-7012-BF323063B417}"/>
              </a:ext>
            </a:extLst>
          </p:cNvPr>
          <p:cNvSpPr/>
          <p:nvPr/>
        </p:nvSpPr>
        <p:spPr>
          <a:xfrm>
            <a:off x="188234" y="1681535"/>
            <a:ext cx="5721268" cy="382773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F3ABAC5-6861-4C95-80AF-C292C6E74936}"/>
              </a:ext>
            </a:extLst>
          </p:cNvPr>
          <p:cNvSpPr/>
          <p:nvPr/>
        </p:nvSpPr>
        <p:spPr>
          <a:xfrm>
            <a:off x="6096000" y="1659774"/>
            <a:ext cx="5721268" cy="3849498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4BE793D-C500-F9C8-432F-92AB5D99AB0A}"/>
              </a:ext>
            </a:extLst>
          </p:cNvPr>
          <p:cNvSpPr/>
          <p:nvPr/>
        </p:nvSpPr>
        <p:spPr>
          <a:xfrm>
            <a:off x="188233" y="6565990"/>
            <a:ext cx="4274038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80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C3DEDBB-3D8E-C674-6B87-B0538FEC6A72}"/>
              </a:ext>
            </a:extLst>
          </p:cNvPr>
          <p:cNvSpPr/>
          <p:nvPr/>
        </p:nvSpPr>
        <p:spPr>
          <a:xfrm>
            <a:off x="188233" y="5561917"/>
            <a:ext cx="11678185" cy="1017465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6A277E5-FD01-03C6-9BCC-618EF404D5BC}"/>
              </a:ext>
            </a:extLst>
          </p:cNvPr>
          <p:cNvSpPr/>
          <p:nvPr/>
        </p:nvSpPr>
        <p:spPr>
          <a:xfrm>
            <a:off x="226336" y="5621048"/>
            <a:ext cx="11640082" cy="958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bg1"/>
                </a:solidFill>
              </a:rPr>
              <a:t>Write-offs ran at £161.9m in 2013-14, fell to £85.4m at the COVID trough (2020-21), and have since risen to £264.9m. Real and nominal terms converge at the September 2025 price basis.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bg1"/>
                </a:solidFill>
              </a:rPr>
              <a:t>The rate has moved between 0.53% and 1.06% of net rates payable. Denominator is NNDR3 net rates payable, not QRC4 net collectable debit</a:t>
            </a:r>
          </a:p>
          <a:p>
            <a:endParaRPr lang="en-GB" sz="1400" b="1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31CB3-8FA1-060E-25A3-75E5F36EC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316" y="2002345"/>
            <a:ext cx="5650635" cy="31643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17A804-9BA0-B06F-2CAF-9FDB32D017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7" y="2010105"/>
            <a:ext cx="5622922" cy="314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00344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2E1C-3E50-F1C1-94F0-D958364B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3829-9B5F-AA05-F62E-15E6EF5BAA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654874"/>
            <a:ext cx="7618405" cy="236924"/>
          </a:xfrm>
        </p:spPr>
        <p:txBody>
          <a:bodyPr/>
          <a:lstStyle/>
          <a:p>
            <a:pPr algn="l">
              <a:lnSpc>
                <a:spcPct val="103250"/>
              </a:lnSpc>
            </a:pPr>
            <a:r>
              <a:rPr lang="en-GB" sz="1600"/>
              <a:t>How are these net write-offs distributed between LAs?</a:t>
            </a:r>
            <a:endParaRPr lang="en-US" sz="16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4E9872-A26B-F21B-5795-FC8599E8F0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082A4BD-3310-B555-5420-D02C66E11C6A}"/>
              </a:ext>
            </a:extLst>
          </p:cNvPr>
          <p:cNvSpPr/>
          <p:nvPr/>
        </p:nvSpPr>
        <p:spPr>
          <a:xfrm>
            <a:off x="226336" y="1693289"/>
            <a:ext cx="5721268" cy="4790253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298467B-2C1C-87E4-B78D-C6B4058D52EB}"/>
              </a:ext>
            </a:extLst>
          </p:cNvPr>
          <p:cNvSpPr/>
          <p:nvPr/>
        </p:nvSpPr>
        <p:spPr>
          <a:xfrm>
            <a:off x="188233" y="6565990"/>
            <a:ext cx="4274038" cy="264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8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62D47A6-ADB9-7936-47C6-C4C82CD135A0}"/>
              </a:ext>
            </a:extLst>
          </p:cNvPr>
          <p:cNvSpPr/>
          <p:nvPr/>
        </p:nvSpPr>
        <p:spPr>
          <a:xfrm>
            <a:off x="6207435" y="1681535"/>
            <a:ext cx="5587486" cy="2492596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9D786A0-02B3-6251-71F9-D1D27F2ED724}"/>
              </a:ext>
            </a:extLst>
          </p:cNvPr>
          <p:cNvSpPr/>
          <p:nvPr/>
        </p:nvSpPr>
        <p:spPr>
          <a:xfrm>
            <a:off x="620619" y="5872372"/>
            <a:ext cx="11640082" cy="958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GB" sz="1400" b="1">
                <a:solidFill>
                  <a:schemeClr val="bg1"/>
                </a:solidFill>
              </a:rPr>
              <a:t>[insert analysis – do any kind of geographical research to see if there is any relevance between </a:t>
            </a:r>
            <a:r>
              <a:rPr lang="en-GB" sz="1400" b="1" err="1">
                <a:solidFill>
                  <a:schemeClr val="bg1"/>
                </a:solidFill>
              </a:rPr>
              <a:t>redcar</a:t>
            </a:r>
            <a:r>
              <a:rPr lang="en-GB" sz="1400" b="1">
                <a:solidFill>
                  <a:schemeClr val="bg1"/>
                </a:solidFill>
              </a:rPr>
              <a:t> and Cleavland with </a:t>
            </a:r>
            <a:r>
              <a:rPr lang="en-GB" sz="1400" b="1" err="1">
                <a:solidFill>
                  <a:schemeClr val="bg1"/>
                </a:solidFill>
              </a:rPr>
              <a:t>liverpool</a:t>
            </a:r>
            <a:r>
              <a:rPr lang="en-GB" sz="1400" b="1">
                <a:solidFill>
                  <a:schemeClr val="bg1"/>
                </a:solidFill>
              </a:rPr>
              <a:t>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6C1DB-A4A8-B276-3A35-462838D78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18"/>
          <a:stretch>
            <a:fillRect/>
          </a:stretch>
        </p:blipFill>
        <p:spPr>
          <a:xfrm>
            <a:off x="299152" y="2519106"/>
            <a:ext cx="5575635" cy="3138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3FFADE-0D90-76E5-4FEE-43D5CFB0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697" r="27834" b="19200"/>
          <a:stretch>
            <a:fillRect/>
          </a:stretch>
        </p:blipFill>
        <p:spPr>
          <a:xfrm>
            <a:off x="6707128" y="1736853"/>
            <a:ext cx="4434482" cy="2381959"/>
          </a:xfrm>
          <a:prstGeom prst="rect">
            <a:avLst/>
          </a:prstGeom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716D622B-93BC-6D3D-924D-B02BAA0B486C}"/>
              </a:ext>
            </a:extLst>
          </p:cNvPr>
          <p:cNvSpPr/>
          <p:nvPr/>
        </p:nvSpPr>
        <p:spPr>
          <a:xfrm>
            <a:off x="6207435" y="4340495"/>
            <a:ext cx="5587486" cy="214304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r>
              <a:rPr lang="en-GB" sz="1600" b="1">
                <a:solidFill>
                  <a:schemeClr val="tx2"/>
                </a:solidFill>
              </a:rPr>
              <a:t>Why Redcar &amp; Liverpool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600" b="1"/>
              <a:t>Both are post-industrial with concentrated rateable value in declining sectors. </a:t>
            </a:r>
            <a:r>
              <a:rPr lang="en-GB" sz="1600" b="1">
                <a:solidFill>
                  <a:schemeClr val="tx2"/>
                </a:solidFill>
              </a:rPr>
              <a:t>Redcar's 32.9% </a:t>
            </a:r>
            <a:r>
              <a:rPr lang="en-GB" sz="1600" b="1"/>
              <a:t>was a single-year spike (2/13 years top quartile), whereas Liverpool is 13/13 on allowance and arrears but only 6/13 on write-offs. 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chemeClr val="tx2"/>
                </a:solidFill>
              </a:rPr>
              <a:t>Different patterns</a:t>
            </a:r>
            <a:r>
              <a:rPr lang="en-GB" sz="1600" b="1"/>
              <a:t>, not the same story, worth not conflating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FF7B03-5F2E-274F-521C-27FBC7780536}"/>
              </a:ext>
            </a:extLst>
          </p:cNvPr>
          <p:cNvSpPr/>
          <p:nvPr/>
        </p:nvSpPr>
        <p:spPr>
          <a:xfrm>
            <a:off x="6919123" y="3749290"/>
            <a:ext cx="1696775" cy="28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>
                <a:solidFill>
                  <a:schemeClr val="tx1"/>
                </a:solidFill>
              </a:rPr>
              <a:t>Liverpool</a:t>
            </a:r>
          </a:p>
        </p:txBody>
      </p:sp>
    </p:spTree>
    <p:extLst>
      <p:ext uri="{BB962C8B-B14F-4D97-AF65-F5344CB8AC3E}">
        <p14:creationId xmlns:p14="http://schemas.microsoft.com/office/powerpoint/2010/main" val="18714976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BA5B-5D8C-4F33-B268-16CC2C24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D994-1596-6DE0-3C5B-B6E4859CE7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536444"/>
            <a:ext cx="7618405" cy="355354"/>
          </a:xfrm>
        </p:spPr>
        <p:txBody>
          <a:bodyPr/>
          <a:lstStyle/>
          <a:p>
            <a:pPr algn="l">
              <a:lnSpc>
                <a:spcPct val="103250"/>
              </a:lnSpc>
            </a:pPr>
            <a:r>
              <a:rPr lang="en-US" sz="2400">
                <a:solidFill>
                  <a:srgbClr val="00625E"/>
                </a:solidFill>
                <a:ea typeface="Arial" pitchFamily="34" charset="-122"/>
                <a:cs typeface="Arial" pitchFamily="34" charset="-120"/>
              </a:rPr>
              <a:t>Actually charged-to-allowance vs write-backs</a:t>
            </a:r>
            <a:endParaRPr 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0302A-ECDD-BF26-B5D4-0FA8936107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3C19DA2-D422-92FF-023A-B9E955CF3465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80C08E0-A6A2-E4D7-EB93-A7F0F69886C3}"/>
              </a:ext>
            </a:extLst>
          </p:cNvPr>
          <p:cNvSpPr/>
          <p:nvPr/>
        </p:nvSpPr>
        <p:spPr>
          <a:xfrm>
            <a:off x="348671" y="1623461"/>
            <a:ext cx="7423971" cy="487028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4E307800-624B-46EA-261C-26C6EA561C7C}"/>
              </a:ext>
            </a:extLst>
          </p:cNvPr>
          <p:cNvSpPr/>
          <p:nvPr/>
        </p:nvSpPr>
        <p:spPr>
          <a:xfrm>
            <a:off x="7867027" y="1623461"/>
            <a:ext cx="4115964" cy="1810061"/>
          </a:xfrm>
          <a:prstGeom prst="rect">
            <a:avLst/>
          </a:prstGeom>
          <a:solidFill>
            <a:srgbClr val="F4F8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14879AF5-12B7-7889-0113-436B3F9D2EB1}"/>
              </a:ext>
            </a:extLst>
          </p:cNvPr>
          <p:cNvSpPr/>
          <p:nvPr/>
        </p:nvSpPr>
        <p:spPr>
          <a:xfrm>
            <a:off x="7867027" y="1623461"/>
            <a:ext cx="51469" cy="1810062"/>
          </a:xfrm>
          <a:prstGeom prst="rect">
            <a:avLst/>
          </a:prstGeom>
          <a:solidFill>
            <a:srgbClr val="12436D"/>
          </a:solidFill>
          <a:ln>
            <a:solidFill>
              <a:srgbClr val="12436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B321235-9555-E362-6D60-52A051080798}"/>
              </a:ext>
            </a:extLst>
          </p:cNvPr>
          <p:cNvSpPr/>
          <p:nvPr/>
        </p:nvSpPr>
        <p:spPr>
          <a:xfrm>
            <a:off x="7924177" y="1653070"/>
            <a:ext cx="3280735" cy="222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>
                <a:solidFill>
                  <a:srgbClr val="1243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to Allowance</a:t>
            </a:r>
            <a:endParaRPr lang="en-US" sz="1275">
              <a:solidFill>
                <a:srgbClr val="12436D"/>
              </a:solidFill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19EA2CE2-9423-561C-ED79-5ADD6B021169}"/>
              </a:ext>
            </a:extLst>
          </p:cNvPr>
          <p:cNvSpPr/>
          <p:nvPr/>
        </p:nvSpPr>
        <p:spPr>
          <a:xfrm>
            <a:off x="8057527" y="1896879"/>
            <a:ext cx="3599652" cy="1479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b="1"/>
              <a:t>£267.7m in 2025-26, a series high, 3.9x the 2020-21 trough (£68.2m). Losses are increasingly ones the provision already anticipated.</a:t>
            </a:r>
            <a:endParaRPr lang="en-US" b="1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B8B7E82A-C1C2-7375-9315-3FDF15915AB5}"/>
              </a:ext>
            </a:extLst>
          </p:cNvPr>
          <p:cNvSpPr/>
          <p:nvPr/>
        </p:nvSpPr>
        <p:spPr>
          <a:xfrm>
            <a:off x="7867027" y="3539758"/>
            <a:ext cx="4108764" cy="1417948"/>
          </a:xfrm>
          <a:prstGeom prst="rect">
            <a:avLst/>
          </a:prstGeom>
          <a:solidFill>
            <a:srgbClr val="F4F8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21D55849-51F8-4CBF-11AC-7818259D29A9}"/>
              </a:ext>
            </a:extLst>
          </p:cNvPr>
          <p:cNvSpPr/>
          <p:nvPr/>
        </p:nvSpPr>
        <p:spPr>
          <a:xfrm>
            <a:off x="7867027" y="3539758"/>
            <a:ext cx="51469" cy="1417948"/>
          </a:xfrm>
          <a:prstGeom prst="rect">
            <a:avLst/>
          </a:prstGeom>
          <a:solidFill>
            <a:srgbClr val="8016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1FD47C0D-9B94-366F-98DA-80E2CF6E7F31}"/>
              </a:ext>
            </a:extLst>
          </p:cNvPr>
          <p:cNvSpPr/>
          <p:nvPr/>
        </p:nvSpPr>
        <p:spPr>
          <a:xfrm>
            <a:off x="8046513" y="3609119"/>
            <a:ext cx="472186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>
                <a:solidFill>
                  <a:srgbClr val="80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backs</a:t>
            </a:r>
            <a:endParaRPr lang="en-US" sz="1275">
              <a:solidFill>
                <a:srgbClr val="801650"/>
              </a:solidFill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760DBD2E-1BA4-DCD0-B290-8AF4D86855B3}"/>
              </a:ext>
            </a:extLst>
          </p:cNvPr>
          <p:cNvSpPr/>
          <p:nvPr/>
        </p:nvSpPr>
        <p:spPr>
          <a:xfrm>
            <a:off x="8057527" y="3857258"/>
            <a:ext cx="3785802" cy="1031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sz="1400" b="1"/>
              <a:t>Write-backs have collapsed from £24.6m/year (2014-19) to £2.4m since 2021-22, at or below zero in 3 of the last 5 years. Surprises to the fund have largely disappeared.</a:t>
            </a:r>
            <a:endParaRPr lang="en-US" sz="1400" b="1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5610535D-8BAF-AB00-D33F-7661EDC1F4AE}"/>
              </a:ext>
            </a:extLst>
          </p:cNvPr>
          <p:cNvSpPr/>
          <p:nvPr/>
        </p:nvSpPr>
        <p:spPr>
          <a:xfrm>
            <a:off x="7867028" y="5029947"/>
            <a:ext cx="4115964" cy="1463802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7D2CC2D5-7D3E-F8E2-4A4C-9B0FD7664FF4}"/>
              </a:ext>
            </a:extLst>
          </p:cNvPr>
          <p:cNvSpPr/>
          <p:nvPr/>
        </p:nvSpPr>
        <p:spPr>
          <a:xfrm>
            <a:off x="7924177" y="5133303"/>
            <a:ext cx="3995652" cy="1074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GB" sz="1400" b="1">
                <a:solidFill>
                  <a:schemeClr val="bg1"/>
                </a:solidFill>
              </a:rPr>
              <a:t>Charged to allowance draws down the provision; Line 4 is what it missed. As Line 4 fades, write-offs are increasingly ones already provided for, the same story as the provision slide.</a:t>
            </a:r>
            <a:endParaRPr lang="en-US" sz="1400" b="1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45FC54-6E34-5C1C-14A4-9BAE67215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74" y="1997317"/>
            <a:ext cx="7007630" cy="392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2334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FEC0-3C5A-CC44-C2A7-B7A2A9EA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6">
            <a:extLst>
              <a:ext uri="{FF2B5EF4-FFF2-40B4-BE49-F238E27FC236}">
                <a16:creationId xmlns:a16="http://schemas.microsoft.com/office/drawing/2014/main" id="{A5C72E9C-719A-0042-4705-D6D4464A2CC3}"/>
              </a:ext>
            </a:extLst>
          </p:cNvPr>
          <p:cNvSpPr/>
          <p:nvPr/>
        </p:nvSpPr>
        <p:spPr>
          <a:xfrm>
            <a:off x="188234" y="1621305"/>
            <a:ext cx="5907766" cy="4944685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08E0F7-872C-FA9E-1A58-5EF84B96C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AF7B02C-BB32-78A6-4172-92151FD90A4D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9158936-56AD-D2CC-0887-7B2B91CB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507" y="227000"/>
            <a:ext cx="8333450" cy="775597"/>
          </a:xfrm>
        </p:spPr>
        <p:txBody>
          <a:bodyPr/>
          <a:lstStyle/>
          <a:p>
            <a:r>
              <a:rPr lang="en-GB"/>
              <a:t>Amongst the different metrics are there </a:t>
            </a:r>
            <a:br>
              <a:rPr lang="en-GB"/>
            </a:br>
            <a:r>
              <a:rPr lang="en-GB"/>
              <a:t>recurring outliers?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16ED32-0BA3-DEF1-B3E9-A41993F76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71"/>
          <a:stretch>
            <a:fillRect/>
          </a:stretch>
        </p:blipFill>
        <p:spPr>
          <a:xfrm>
            <a:off x="633850" y="1707303"/>
            <a:ext cx="4843015" cy="4772687"/>
          </a:xfrm>
          <a:prstGeom prst="rect">
            <a:avLst/>
          </a:prstGeom>
        </p:spPr>
      </p:pic>
      <p:sp>
        <p:nvSpPr>
          <p:cNvPr id="24" name="Shape 6">
            <a:extLst>
              <a:ext uri="{FF2B5EF4-FFF2-40B4-BE49-F238E27FC236}">
                <a16:creationId xmlns:a16="http://schemas.microsoft.com/office/drawing/2014/main" id="{E44C7F4A-B62E-2FCD-A756-482BE5CDE959}"/>
              </a:ext>
            </a:extLst>
          </p:cNvPr>
          <p:cNvSpPr/>
          <p:nvPr/>
        </p:nvSpPr>
        <p:spPr>
          <a:xfrm>
            <a:off x="6233823" y="2773410"/>
            <a:ext cx="5554022" cy="2008192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5539B-9B68-E665-3775-B9A4470FE245}"/>
              </a:ext>
            </a:extLst>
          </p:cNvPr>
          <p:cNvSpPr/>
          <p:nvPr/>
        </p:nvSpPr>
        <p:spPr>
          <a:xfrm>
            <a:off x="4376502" y="5536015"/>
            <a:ext cx="1671781" cy="9439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sz="1050"/>
              <a:t>Add London </a:t>
            </a:r>
            <a:r>
              <a:rPr lang="en-GB" sz="1050" err="1"/>
              <a:t>aswell</a:t>
            </a:r>
            <a:endParaRPr lang="en-GB" sz="105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836D981-5735-79A5-E62D-1BCAAE22C0FE}"/>
              </a:ext>
            </a:extLst>
          </p:cNvPr>
          <p:cNvSpPr txBox="1">
            <a:spLocks/>
          </p:cNvSpPr>
          <p:nvPr/>
        </p:nvSpPr>
        <p:spPr>
          <a:xfrm>
            <a:off x="4871713" y="1017191"/>
            <a:ext cx="7995920" cy="47069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1200" b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Investigating which authorities write off the most</a:t>
            </a:r>
            <a:endParaRPr lang="en-US" sz="12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E67733-3720-CF34-7CFB-509A699E1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9" r="4036" b="22623"/>
          <a:stretch>
            <a:fillRect/>
          </a:stretch>
        </p:blipFill>
        <p:spPr>
          <a:xfrm>
            <a:off x="6376499" y="2773410"/>
            <a:ext cx="5268669" cy="2008192"/>
          </a:xfrm>
          <a:prstGeom prst="rect">
            <a:avLst/>
          </a:prstGeom>
        </p:spPr>
      </p:pic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91D8951-1BA0-C1BA-ADBC-5918F721CA8D}"/>
              </a:ext>
            </a:extLst>
          </p:cNvPr>
          <p:cNvSpPr txBox="1">
            <a:spLocks/>
          </p:cNvSpPr>
          <p:nvPr/>
        </p:nvSpPr>
        <p:spPr>
          <a:xfrm>
            <a:off x="6233823" y="4781602"/>
            <a:ext cx="5850094" cy="3161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US" sz="900" b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* How many years of the 13 year time series LAs where in the upper quartiles, </a:t>
            </a:r>
            <a:r>
              <a:rPr lang="en-US" sz="900" b="1" err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i.e</a:t>
            </a:r>
            <a:r>
              <a:rPr lang="en-US" sz="900" b="1">
                <a:solidFill>
                  <a:srgbClr val="8C8C8C"/>
                </a:solidFill>
                <a:latin typeface="Arial" pitchFamily="34" charset="0"/>
                <a:cs typeface="Arial" pitchFamily="34" charset="-120"/>
              </a:rPr>
              <a:t> 13/13 would mean that an LA was in the upper quartile of a given metric for 13 years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34531628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CB1C2-4897-DCC1-9855-8176455D8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0604A1-06D4-9B51-812E-0E4A980F6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F6FA108-CA2F-1405-19F5-0284731643F1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D08328E-4B5D-A894-D1BF-0D4DA6F8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507" y="227000"/>
            <a:ext cx="8333450" cy="775597"/>
          </a:xfrm>
        </p:spPr>
        <p:txBody>
          <a:bodyPr/>
          <a:lstStyle/>
          <a:p>
            <a:r>
              <a:rPr lang="en-GB"/>
              <a:t>Amongst the different metrics are there </a:t>
            </a:r>
            <a:br>
              <a:rPr lang="en-GB"/>
            </a:br>
            <a:r>
              <a:rPr lang="en-GB"/>
              <a:t>recurring outliers?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9A6D746-E202-4A22-C9A4-AC35FBA3E946}"/>
              </a:ext>
            </a:extLst>
          </p:cNvPr>
          <p:cNvSpPr/>
          <p:nvPr/>
        </p:nvSpPr>
        <p:spPr>
          <a:xfrm>
            <a:off x="188234" y="1516743"/>
            <a:ext cx="6991738" cy="504924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ABCC50-00EF-DCF0-B5E1-19B64800B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72" y="1635983"/>
            <a:ext cx="6661061" cy="4810766"/>
          </a:xfrm>
          <a:prstGeom prst="rect">
            <a:avLst/>
          </a:prstGeom>
        </p:spPr>
      </p:pic>
      <p:sp>
        <p:nvSpPr>
          <p:cNvPr id="15" name="Shape 6">
            <a:extLst>
              <a:ext uri="{FF2B5EF4-FFF2-40B4-BE49-F238E27FC236}">
                <a16:creationId xmlns:a16="http://schemas.microsoft.com/office/drawing/2014/main" id="{F29E1F7E-258D-FFB5-4EF0-491F7C1930C3}"/>
              </a:ext>
            </a:extLst>
          </p:cNvPr>
          <p:cNvSpPr/>
          <p:nvPr/>
        </p:nvSpPr>
        <p:spPr>
          <a:xfrm>
            <a:off x="7345310" y="1516743"/>
            <a:ext cx="4493118" cy="504924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r>
              <a:rPr lang="en-GB" sz="1400" b="1">
                <a:solidFill>
                  <a:schemeClr val="tx2"/>
                </a:solidFill>
              </a:rPr>
              <a:t>Two distinct clusters, and they behave differently:</a:t>
            </a:r>
          </a:p>
          <a:p>
            <a:endParaRPr lang="en-GB" sz="1400" b="1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b="1"/>
              <a:t>Post-industrial North and Midlands: </a:t>
            </a:r>
            <a:r>
              <a:rPr lang="en-GB" sz="1400" b="1">
                <a:solidFill>
                  <a:schemeClr val="tx2"/>
                </a:solidFill>
              </a:rPr>
              <a:t>Greater Manchester (Salford, Bolton, Manchester, Tameside, Wigan, Stockport), Lancashire (Blackpool, Burnley, Hyndburn, Preston, Rossendale), West Midlands (Birmingham, Wolverhampton, Sandwell, Dudley, Walsall), Merseyside (Liverpool, St Helens, Wirral). </a:t>
            </a:r>
            <a:r>
              <a:rPr lang="en-GB" sz="1400" b="1"/>
              <a:t>High</a:t>
            </a:r>
            <a:r>
              <a:rPr lang="en-GB" sz="1400" b="1">
                <a:solidFill>
                  <a:schemeClr val="tx2"/>
                </a:solidFill>
              </a:rPr>
              <a:t> </a:t>
            </a:r>
            <a:r>
              <a:rPr lang="en-GB" sz="1400" b="1"/>
              <a:t>on all three metrics including write-offs, the loss is realised.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GB" sz="1400" b="1"/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sz="1400" b="1"/>
              <a:t>Outer London:</a:t>
            </a:r>
            <a:r>
              <a:rPr lang="en-GB" sz="1400" b="1">
                <a:solidFill>
                  <a:schemeClr val="tx2"/>
                </a:solidFill>
              </a:rPr>
              <a:t> Islington, Lewisham, Barnet, Ealing, Haringey, Harrow, Enfield, Redbridge, Croydon, Waltham Forest, Barking and Dagenham</a:t>
            </a:r>
            <a:r>
              <a:rPr lang="en-GB" sz="1400" b="1"/>
              <a:t>. High allowance and high arrears, but markedly lower write-offs. Debt is held and provisioned against, not given up on.</a:t>
            </a:r>
          </a:p>
          <a:p>
            <a:endParaRPr lang="en-GB" sz="1400" b="1"/>
          </a:p>
          <a:p>
            <a:r>
              <a:rPr lang="en-GB" sz="1400" b="1"/>
              <a:t>That contrast is the finding: same apparent pressure, opposite treatment. Whether London is exercising better collection discipline isn't answerable from NNDR3 alone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CD27FB-FD32-432C-E67C-A9B9660AF1C1}"/>
              </a:ext>
            </a:extLst>
          </p:cNvPr>
          <p:cNvSpPr txBox="1"/>
          <p:nvPr/>
        </p:nvSpPr>
        <p:spPr>
          <a:xfrm>
            <a:off x="188235" y="6550223"/>
            <a:ext cx="5676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i="1"/>
              <a:t>*That contrast is the finding: same apparent pressure, opposite treatment. Whether London is exercising better collection discipline or simply deferring recognition isn't answerable from NNDR3 alone — but it's a sharp question for the commission.</a:t>
            </a:r>
          </a:p>
        </p:txBody>
      </p:sp>
    </p:spTree>
    <p:extLst>
      <p:ext uri="{BB962C8B-B14F-4D97-AF65-F5344CB8AC3E}">
        <p14:creationId xmlns:p14="http://schemas.microsoft.com/office/powerpoint/2010/main" val="144019232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9352-8944-F4BC-366B-75FBB6FF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66541F3-F774-C3C8-7BFC-528FDFA0CE98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94A803B-64D2-351D-FECF-BA9C23EBE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656" y="227000"/>
            <a:ext cx="7618405" cy="775597"/>
          </a:xfrm>
        </p:spPr>
        <p:txBody>
          <a:bodyPr/>
          <a:lstStyle/>
          <a:p>
            <a:r>
              <a:rPr lang="en-GB"/>
              <a:t>Write-offs bottomed out exactly as closure peaked - demography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46AB338-267E-49CB-B3A3-F27DB61CF99E}"/>
              </a:ext>
            </a:extLst>
          </p:cNvPr>
          <p:cNvSpPr/>
          <p:nvPr/>
        </p:nvSpPr>
        <p:spPr>
          <a:xfrm>
            <a:off x="230819" y="1667395"/>
            <a:ext cx="6931458" cy="4840981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14E76-83A5-50EF-6DF0-F36C85A11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67" y="1999069"/>
            <a:ext cx="6808961" cy="4161031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6630D9CB-4B17-CCB0-F5FC-FB963720D004}"/>
              </a:ext>
            </a:extLst>
          </p:cNvPr>
          <p:cNvSpPr/>
          <p:nvPr/>
        </p:nvSpPr>
        <p:spPr>
          <a:xfrm>
            <a:off x="7363125" y="1662966"/>
            <a:ext cx="4180519" cy="4840980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tx2"/>
                </a:solidFill>
              </a:rPr>
              <a:t>The inversion.</a:t>
            </a:r>
            <a:r>
              <a:rPr lang="en-GB">
                <a:solidFill>
                  <a:schemeClr val="tx2"/>
                </a:solidFill>
              </a:rPr>
              <a:t> </a:t>
            </a:r>
            <a:r>
              <a:rPr lang="en-GB"/>
              <a:t>Closures hit a series high of </a:t>
            </a:r>
            <a:r>
              <a:rPr lang="en-GB" b="1">
                <a:solidFill>
                  <a:schemeClr val="tx2"/>
                </a:solidFill>
              </a:rPr>
              <a:t>372,525</a:t>
            </a:r>
            <a:r>
              <a:rPr lang="en-GB"/>
              <a:t> in </a:t>
            </a:r>
            <a:r>
              <a:rPr lang="en-GB" b="1">
                <a:solidFill>
                  <a:schemeClr val="tx2"/>
                </a:solidFill>
              </a:rPr>
              <a:t>2021-22</a:t>
            </a:r>
            <a:r>
              <a:rPr lang="en-GB"/>
              <a:t>. Write-offs hit a series low of </a:t>
            </a:r>
            <a:r>
              <a:rPr lang="en-GB" b="1">
                <a:solidFill>
                  <a:schemeClr val="tx2"/>
                </a:solidFill>
              </a:rPr>
              <a:t>£85.4m </a:t>
            </a:r>
            <a:r>
              <a:rPr lang="en-GB"/>
              <a:t>in 2020-21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tx2"/>
                </a:solidFill>
              </a:rPr>
              <a:t>Why.</a:t>
            </a:r>
            <a:r>
              <a:rPr lang="en-GB"/>
              <a:t> Insolvency moratoria and forbearance suppressed write-offs precisely while failure peaked. The debt didn't disappear; recognition was deferred.</a:t>
            </a:r>
          </a:p>
          <a:p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tx2"/>
                </a:solidFill>
              </a:rPr>
              <a:t>Since then.</a:t>
            </a:r>
            <a:r>
              <a:rPr lang="en-GB">
                <a:solidFill>
                  <a:schemeClr val="tx2"/>
                </a:solidFill>
              </a:rPr>
              <a:t> </a:t>
            </a:r>
            <a:r>
              <a:rPr lang="en-GB"/>
              <a:t>Closures have fallen every year to </a:t>
            </a:r>
            <a:r>
              <a:rPr lang="en-GB" b="1">
                <a:solidFill>
                  <a:schemeClr val="tx2"/>
                </a:solidFill>
              </a:rPr>
              <a:t>287,910</a:t>
            </a:r>
            <a:r>
              <a:rPr lang="en-GB"/>
              <a:t> in </a:t>
            </a:r>
            <a:r>
              <a:rPr lang="en-GB" b="1">
                <a:solidFill>
                  <a:schemeClr val="tx2"/>
                </a:solidFill>
              </a:rPr>
              <a:t>2025-26</a:t>
            </a:r>
            <a:r>
              <a:rPr lang="en-GB"/>
              <a:t>, down </a:t>
            </a:r>
            <a:r>
              <a:rPr lang="en-GB" b="1">
                <a:solidFill>
                  <a:schemeClr val="tx2"/>
                </a:solidFill>
              </a:rPr>
              <a:t>23% </a:t>
            </a:r>
            <a:r>
              <a:rPr lang="en-GB"/>
              <a:t>from peak. Write-offs have climbed to </a:t>
            </a:r>
            <a:r>
              <a:rPr lang="en-GB" b="1">
                <a:solidFill>
                  <a:schemeClr val="tx2"/>
                </a:solidFill>
              </a:rPr>
              <a:t>£264.9m</a:t>
            </a:r>
            <a:r>
              <a:rPr lang="en-GB"/>
              <a:t>. The loss is surfacing years after the failures that caused 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B8C54-1C59-F955-34DE-3662A7F8EB30}"/>
              </a:ext>
            </a:extLst>
          </p:cNvPr>
          <p:cNvSpPr txBox="1"/>
          <p:nvPr/>
        </p:nvSpPr>
        <p:spPr>
          <a:xfrm>
            <a:off x="230819" y="6519446"/>
            <a:ext cx="5324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i="1"/>
              <a:t>Caveat: counts VAT/PAYE enterprises UK-wide, not hereditaments by authority. Explains the shape of the series; doesn't evidence causation.</a:t>
            </a:r>
          </a:p>
        </p:txBody>
      </p:sp>
    </p:spTree>
    <p:extLst>
      <p:ext uri="{BB962C8B-B14F-4D97-AF65-F5344CB8AC3E}">
        <p14:creationId xmlns:p14="http://schemas.microsoft.com/office/powerpoint/2010/main" val="164827744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10A0-52F3-26EE-BF49-89464C54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AAFEB60-B131-020C-6610-4FFF9AC32191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18C9DE-DE44-36FB-80D5-6CE80672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951" y="337800"/>
            <a:ext cx="7618405" cy="775597"/>
          </a:xfrm>
        </p:spPr>
        <p:txBody>
          <a:bodyPr/>
          <a:lstStyle/>
          <a:p>
            <a:r>
              <a:rPr lang="en-GB"/>
              <a:t>Business closures are the mechanism behind a write-off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B3C0A-CF53-37DA-B94A-CAEA4CB1FE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" t="15783" r="3220" b="8823"/>
          <a:stretch>
            <a:fillRect/>
          </a:stretch>
        </p:blipFill>
        <p:spPr>
          <a:xfrm>
            <a:off x="452683" y="1956864"/>
            <a:ext cx="11233673" cy="449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3647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FE03-A0DC-DFF3-24D7-84054FD6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F6612-50E7-0378-09C7-67E439AB32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278617"/>
            <a:ext cx="7618405" cy="613181"/>
          </a:xfrm>
        </p:spPr>
        <p:txBody>
          <a:bodyPr/>
          <a:lstStyle/>
          <a:p>
            <a:pPr algn="l">
              <a:lnSpc>
                <a:spcPct val="103250"/>
              </a:lnSpc>
            </a:pPr>
            <a:r>
              <a:rPr lang="en-GB" sz="2000"/>
              <a:t>The non-collection allowance rose sharply as a share of the tax base through COVID and has only partly unwound</a:t>
            </a:r>
            <a:endParaRPr lang="en-US" sz="20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5EC81-C044-67DD-8E9A-4E3ED938B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C4EA0EE-AEE2-41A0-AA41-938436311DFA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B3E50C6-0C07-6202-DC4C-A11772BE7AD6}"/>
              </a:ext>
            </a:extLst>
          </p:cNvPr>
          <p:cNvSpPr txBox="1">
            <a:spLocks/>
          </p:cNvSpPr>
          <p:nvPr/>
        </p:nvSpPr>
        <p:spPr>
          <a:xfrm>
            <a:off x="4014216" y="860556"/>
            <a:ext cx="6382030" cy="787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GB" sz="1400" b="1">
                <a:solidFill>
                  <a:schemeClr val="tx1">
                    <a:lumMod val="50000"/>
                    <a:lumOff val="50000"/>
                  </a:schemeClr>
                </a:solidFill>
              </a:rPr>
              <a:t>The allowance is a forward-looking measure of anticipated loss, not a record of loss already realised.</a:t>
            </a:r>
            <a:endParaRPr lang="en-US" sz="1400" b="1" u="sng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93F5A208-AFA8-8307-B779-74FDB9D4EB1C}"/>
              </a:ext>
            </a:extLst>
          </p:cNvPr>
          <p:cNvSpPr/>
          <p:nvPr/>
        </p:nvSpPr>
        <p:spPr>
          <a:xfrm>
            <a:off x="188233" y="5087835"/>
            <a:ext cx="11636241" cy="1352550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E50475C5-4B70-4F87-8C1B-5755B864E022}"/>
              </a:ext>
            </a:extLst>
          </p:cNvPr>
          <p:cNvSpPr/>
          <p:nvPr/>
        </p:nvSpPr>
        <p:spPr>
          <a:xfrm>
            <a:off x="258311" y="5297385"/>
            <a:ext cx="11351166" cy="958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285750" indent="-285750">
              <a:lnSpc>
                <a:spcPct val="125227"/>
              </a:lnSpc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bg1"/>
                </a:solidFill>
              </a:rPr>
              <a:t>Allowance share of net rates payable climbed from around 2.7% in 2018-19 to a peak near 9.8% in 2020-21, and has eased to roughly 4.9% by 2025-26.</a:t>
            </a:r>
          </a:p>
          <a:p>
            <a:pPr marL="285750" indent="-285750">
              <a:lnSpc>
                <a:spcPct val="125227"/>
              </a:lnSpc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bg1"/>
                </a:solidFill>
              </a:rPr>
              <a:t>The year-on-year change shows the scale of the 2020-21 movement: authorities added over £700m to the provision in that single year, the largest single-year change in the series. 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CB8C5E9-4601-C1C2-4FAA-680159582026}"/>
              </a:ext>
            </a:extLst>
          </p:cNvPr>
          <p:cNvSpPr/>
          <p:nvPr/>
        </p:nvSpPr>
        <p:spPr>
          <a:xfrm>
            <a:off x="188232" y="1574238"/>
            <a:ext cx="5728474" cy="3417603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4E284BD-6F56-BCC5-FA07-84E8DEB9A9A3}"/>
              </a:ext>
            </a:extLst>
          </p:cNvPr>
          <p:cNvSpPr/>
          <p:nvPr/>
        </p:nvSpPr>
        <p:spPr>
          <a:xfrm>
            <a:off x="6096000" y="1574237"/>
            <a:ext cx="5728474" cy="3417603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F8D3C-C284-F65D-F814-887EDC270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967" y="1746995"/>
            <a:ext cx="5478539" cy="30679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6305A0-562F-7C43-5DCD-D6BBDC052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39" y="1726578"/>
            <a:ext cx="5551459" cy="31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2915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A8EA-7A6E-5491-8AA5-979DDC2A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6">
            <a:extLst>
              <a:ext uri="{FF2B5EF4-FFF2-40B4-BE49-F238E27FC236}">
                <a16:creationId xmlns:a16="http://schemas.microsoft.com/office/drawing/2014/main" id="{F642C033-7352-9417-6710-EDF0FCB17CCD}"/>
              </a:ext>
            </a:extLst>
          </p:cNvPr>
          <p:cNvSpPr/>
          <p:nvPr/>
        </p:nvSpPr>
        <p:spPr>
          <a:xfrm>
            <a:off x="396096" y="1778195"/>
            <a:ext cx="7530864" cy="4705147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 sz="1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AD3F7-B7F5-AA0C-5680-053EAA5BC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337800"/>
            <a:ext cx="7618405" cy="553998"/>
          </a:xfrm>
        </p:spPr>
        <p:txBody>
          <a:bodyPr/>
          <a:lstStyle/>
          <a:p>
            <a:pPr algn="l"/>
            <a:r>
              <a:rPr lang="en-GB" sz="2000"/>
              <a:t>Authorities are holding provision several times larger than what is being written off annually</a:t>
            </a: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4AF62-641B-0DE3-8C59-F96E0A8609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398249" y="6573684"/>
            <a:ext cx="567415" cy="169277"/>
          </a:xfrm>
        </p:spPr>
        <p:txBody>
          <a:bodyPr/>
          <a:lstStyle/>
          <a:p>
            <a:endParaRPr lang="en-GB" sz="110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302890C-E482-2A08-4D05-F6CF0D51CF6A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pic>
        <p:nvPicPr>
          <p:cNvPr id="5" name="Picture 4" descr="A white rectangular object with black and green squares&#10;&#10;AI-generated content may be incorrect.">
            <a:extLst>
              <a:ext uri="{FF2B5EF4-FFF2-40B4-BE49-F238E27FC236}">
                <a16:creationId xmlns:a16="http://schemas.microsoft.com/office/drawing/2014/main" id="{176A2E26-6147-1BCA-A20D-359E6A524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727" y="1740247"/>
            <a:ext cx="3615713" cy="4763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47E54D-D276-1413-E6C0-A7ACD30C5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131" y="1691648"/>
            <a:ext cx="10436052" cy="771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E7C6EA-F498-2298-4066-1B4066B2F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727" y="2333169"/>
            <a:ext cx="3615713" cy="1477327"/>
          </a:xfrm>
          <a:prstGeom prst="rect">
            <a:avLst/>
          </a:prstGeom>
        </p:spPr>
      </p:pic>
      <p:sp>
        <p:nvSpPr>
          <p:cNvPr id="19" name="Shape 14">
            <a:extLst>
              <a:ext uri="{FF2B5EF4-FFF2-40B4-BE49-F238E27FC236}">
                <a16:creationId xmlns:a16="http://schemas.microsoft.com/office/drawing/2014/main" id="{1DC380C5-7F4C-CB5F-38A0-D2662B234A35}"/>
              </a:ext>
            </a:extLst>
          </p:cNvPr>
          <p:cNvSpPr/>
          <p:nvPr/>
        </p:nvSpPr>
        <p:spPr>
          <a:xfrm>
            <a:off x="8191726" y="5410955"/>
            <a:ext cx="3592644" cy="1089568"/>
          </a:xfrm>
          <a:prstGeom prst="rect">
            <a:avLst/>
          </a:prstGeom>
          <a:solidFill>
            <a:srgbClr val="00625E"/>
          </a:solidFill>
          <a:ln/>
        </p:spPr>
        <p:txBody>
          <a:bodyPr/>
          <a:lstStyle/>
          <a:p>
            <a:endParaRPr lang="en-GB" sz="16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F1D013A-C3C3-4353-89B8-6783D9CD81DC}"/>
              </a:ext>
            </a:extLst>
          </p:cNvPr>
          <p:cNvSpPr/>
          <p:nvPr/>
        </p:nvSpPr>
        <p:spPr>
          <a:xfrm>
            <a:off x="8256377" y="5626876"/>
            <a:ext cx="3486409" cy="87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70E3F-CBBB-B543-915D-2A206734E054}"/>
              </a:ext>
            </a:extLst>
          </p:cNvPr>
          <p:cNvSpPr txBox="1"/>
          <p:nvPr/>
        </p:nvSpPr>
        <p:spPr>
          <a:xfrm>
            <a:off x="3997706" y="860040"/>
            <a:ext cx="7019544" cy="468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714"/>
              </a:lnSpc>
            </a:pPr>
            <a:r>
              <a:rPr lang="en-GB" sz="1100" b="1">
                <a:solidFill>
                  <a:schemeClr val="tx1">
                    <a:lumMod val="50000"/>
                    <a:lumOff val="50000"/>
                  </a:schemeClr>
                </a:solidFill>
              </a:rPr>
              <a:t>The gap between provision and realised loss is the forward-looking risk signal this metric was built to surface. Whether the current gap is expected for a stock-versus-flow comparison</a:t>
            </a:r>
            <a:endParaRPr lang="en-US" sz="1100" b="1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58AA96-10F4-74D0-6D24-4701CFB971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67" y="2053081"/>
            <a:ext cx="7389321" cy="41380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FC19E-3235-DC97-6AA2-E4C992CEEB7F}"/>
              </a:ext>
            </a:extLst>
          </p:cNvPr>
          <p:cNvSpPr txBox="1"/>
          <p:nvPr/>
        </p:nvSpPr>
        <p:spPr>
          <a:xfrm>
            <a:off x="8256377" y="2391961"/>
            <a:ext cx="33151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chemeClr val="bg1"/>
                </a:solidFill>
              </a:rPr>
              <a:t>Provision held is 5.25x annual write-offs in 2025-26 (£1,389.6m against £264.9m)  well down from the pandemic peak, but still 52% above the pre-COVID average of 3.45x (2013-14 to 2019-20).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1CCD0-DE51-AD4F-B367-14BC4715BEED}"/>
              </a:ext>
            </a:extLst>
          </p:cNvPr>
          <p:cNvSpPr txBox="1"/>
          <p:nvPr/>
        </p:nvSpPr>
        <p:spPr>
          <a:xfrm>
            <a:off x="8204991" y="3890684"/>
            <a:ext cx="3566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The 2020-21 spike was mechanical, not behavioural. The largest single-year increase on record, driving the ratio to 17.6x.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D6630-39AC-6180-478A-A41FCB3754DB}"/>
              </a:ext>
            </a:extLst>
          </p:cNvPr>
          <p:cNvSpPr txBox="1"/>
          <p:nvPr/>
        </p:nvSpPr>
        <p:spPr>
          <a:xfrm>
            <a:off x="8191724" y="5496842"/>
            <a:ext cx="35926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>
                <a:solidFill>
                  <a:schemeClr val="bg1"/>
                </a:solidFill>
              </a:rPr>
              <a:t>The ratio has fallen every year since 2020-21 17.6x → 14.0x → 8.3x → 5.9x → 5.3x → 5.25x.</a:t>
            </a:r>
          </a:p>
          <a:p>
            <a:r>
              <a:rPr lang="en-GB" sz="1100" b="1">
                <a:solidFill>
                  <a:schemeClr val="bg1"/>
                </a:solidFill>
              </a:rPr>
              <a:t>Potentially reflecting a genuinely elevated risk view or a write-off cycle still maturing within the system</a:t>
            </a:r>
          </a:p>
        </p:txBody>
      </p:sp>
    </p:spTree>
    <p:extLst>
      <p:ext uri="{BB962C8B-B14F-4D97-AF65-F5344CB8AC3E}">
        <p14:creationId xmlns:p14="http://schemas.microsoft.com/office/powerpoint/2010/main" val="253052318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CD3B-4DF9-7286-F111-2502B5CB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96F7-7733-E34A-4364-234C8456A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105656" y="337800"/>
            <a:ext cx="7618405" cy="553998"/>
          </a:xfrm>
        </p:spPr>
        <p:txBody>
          <a:bodyPr/>
          <a:lstStyle/>
          <a:p>
            <a:pPr algn="l"/>
            <a:r>
              <a:rPr lang="en-GB" sz="2000"/>
              <a:t>Authorities are holding provision several times larger than what is being written off annually</a:t>
            </a:r>
            <a:endParaRPr lang="en-US" sz="200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71A36DA-1BC5-94C8-14BC-48A96B79466A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FD5E7C-B9A0-8B81-86AA-2A4DC240797B}"/>
              </a:ext>
            </a:extLst>
          </p:cNvPr>
          <p:cNvSpPr txBox="1"/>
          <p:nvPr/>
        </p:nvSpPr>
        <p:spPr>
          <a:xfrm>
            <a:off x="3997706" y="860040"/>
            <a:ext cx="7019544" cy="468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714"/>
              </a:lnSpc>
            </a:pPr>
            <a:r>
              <a:rPr lang="en-GB" sz="1100" b="1">
                <a:solidFill>
                  <a:schemeClr val="tx1">
                    <a:lumMod val="50000"/>
                    <a:lumOff val="50000"/>
                  </a:schemeClr>
                </a:solidFill>
              </a:rPr>
              <a:t>The gap between provision and realised loss is the forward-looking risk signal this metric was built to surface. Whether the current gap is expected for a stock-versus-flow comparison</a:t>
            </a:r>
            <a:endParaRPr lang="en-US" sz="1100" b="1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 pitchFamily="34" charset="-122"/>
              <a:cs typeface="Arial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5FCB44DC-7B0E-6AC8-38B5-D4917184D949}"/>
              </a:ext>
            </a:extLst>
          </p:cNvPr>
          <p:cNvSpPr/>
          <p:nvPr/>
        </p:nvSpPr>
        <p:spPr>
          <a:xfrm>
            <a:off x="221672" y="1592691"/>
            <a:ext cx="7285805" cy="4984321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E744A3-2903-74D1-67E0-D7F2C0182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84" y="1652486"/>
            <a:ext cx="6735780" cy="48647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FA5BFE-6AB3-6561-03B6-ADAF8E63F69C}"/>
              </a:ext>
            </a:extLst>
          </p:cNvPr>
          <p:cNvSpPr txBox="1"/>
          <p:nvPr/>
        </p:nvSpPr>
        <p:spPr>
          <a:xfrm>
            <a:off x="7507475" y="1486524"/>
            <a:ext cx="2166581" cy="4837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5714"/>
              </a:lnSpc>
            </a:pPr>
            <a:r>
              <a:rPr lang="en-GB" sz="2400" b="1">
                <a:solidFill>
                  <a:schemeClr val="tx2"/>
                </a:solidFill>
              </a:rPr>
              <a:t>Significance</a:t>
            </a:r>
            <a:endParaRPr lang="en-US" sz="1100" b="1">
              <a:solidFill>
                <a:schemeClr val="tx2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0AF4148-DF53-02D6-0170-9613C308B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9" t="5604" r="4265" b="4672"/>
          <a:stretch>
            <a:fillRect/>
          </a:stretch>
        </p:blipFill>
        <p:spPr>
          <a:xfrm>
            <a:off x="7507474" y="1995982"/>
            <a:ext cx="3834441" cy="468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9717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1274D-7176-6773-E513-D1143F3F8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995C4A-27DB-2FFC-4F7A-D569E4D6F6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/>
          <a:p>
            <a:fld id="{116D7591-1A0A-4FF5-9247-8C166AD5C24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FFC1106-2978-4B37-8FBF-F521916C176E}"/>
              </a:ext>
            </a:extLst>
          </p:cNvPr>
          <p:cNvSpPr txBox="1">
            <a:spLocks/>
          </p:cNvSpPr>
          <p:nvPr/>
        </p:nvSpPr>
        <p:spPr>
          <a:xfrm>
            <a:off x="4810240" y="891798"/>
            <a:ext cx="11528628" cy="221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0AB5A42E-89A2-606E-5FD7-54A90DD3A034}"/>
              </a:ext>
            </a:extLst>
          </p:cNvPr>
          <p:cNvSpPr txBox="1">
            <a:spLocks/>
          </p:cNvSpPr>
          <p:nvPr/>
        </p:nvSpPr>
        <p:spPr>
          <a:xfrm>
            <a:off x="8984368" y="891798"/>
            <a:ext cx="2837981" cy="5468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714"/>
              </a:lnSpc>
              <a:buNone/>
            </a:pPr>
            <a:r>
              <a:rPr lang="en-GB" sz="2000" b="1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Allowance vs closure</a:t>
            </a:r>
            <a:endParaRPr lang="en-US" sz="200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238B78-B0FD-6615-D84D-C946A907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551" y="614799"/>
            <a:ext cx="7618405" cy="387798"/>
          </a:xfrm>
        </p:spPr>
        <p:txBody>
          <a:bodyPr/>
          <a:lstStyle/>
          <a:p>
            <a:r>
              <a:rPr lang="en-GB"/>
              <a:t>Is provisioning risk-responsive?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76E84B6-ABDB-FF9E-0695-CA050E20F56E}"/>
              </a:ext>
            </a:extLst>
          </p:cNvPr>
          <p:cNvSpPr/>
          <p:nvPr/>
        </p:nvSpPr>
        <p:spPr>
          <a:xfrm>
            <a:off x="228499" y="1700886"/>
            <a:ext cx="6068288" cy="3851615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16A59-89AC-1FC9-E759-2142E5EB3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74" y="1846119"/>
            <a:ext cx="5827337" cy="3561148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F05FD6FC-9168-0AAA-62C2-D7542DA84889}"/>
              </a:ext>
            </a:extLst>
          </p:cNvPr>
          <p:cNvSpPr/>
          <p:nvPr/>
        </p:nvSpPr>
        <p:spPr>
          <a:xfrm>
            <a:off x="6417263" y="1700886"/>
            <a:ext cx="5405086" cy="4964319"/>
          </a:xfrm>
          <a:prstGeom prst="rect">
            <a:avLst/>
          </a:prstGeom>
          <a:solidFill>
            <a:schemeClr val="bg1"/>
          </a:solidFill>
          <a:ln w="19050">
            <a:solidFill>
              <a:srgbClr val="9DBFBC"/>
            </a:solidFill>
            <a:prstDash val="dash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/>
                </a:solidFill>
              </a:rPr>
              <a:t>Provision moved first.</a:t>
            </a:r>
            <a:r>
              <a:rPr lang="en-GB" sz="2000">
                <a:solidFill>
                  <a:schemeClr val="tx2"/>
                </a:solidFill>
              </a:rPr>
              <a:t> </a:t>
            </a:r>
            <a:r>
              <a:rPr lang="en-GB" sz="2000"/>
              <a:t>Allowance peaked 2020-21, a year before closures. Over </a:t>
            </a:r>
            <a:r>
              <a:rPr lang="en-GB" sz="2000" b="1">
                <a:solidFill>
                  <a:schemeClr val="tx2"/>
                </a:solidFill>
              </a:rPr>
              <a:t>£700m </a:t>
            </a:r>
            <a:r>
              <a:rPr lang="en-GB" sz="2000"/>
              <a:t>added in one year.</a:t>
            </a:r>
          </a:p>
          <a:p>
            <a:endParaRPr lang="en-GB" sz="20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/>
                </a:solidFill>
              </a:rPr>
              <a:t>The loss arrived late.</a:t>
            </a:r>
            <a:r>
              <a:rPr lang="en-GB" sz="2000">
                <a:solidFill>
                  <a:schemeClr val="tx2"/>
                </a:solidFill>
              </a:rPr>
              <a:t> </a:t>
            </a:r>
            <a:r>
              <a:rPr lang="en-GB" sz="2000"/>
              <a:t>Write-offs troughed at </a:t>
            </a:r>
            <a:r>
              <a:rPr lang="en-GB" sz="2000" b="1">
                <a:solidFill>
                  <a:schemeClr val="tx2"/>
                </a:solidFill>
              </a:rPr>
              <a:t>£85.4m</a:t>
            </a:r>
            <a:r>
              <a:rPr lang="en-GB" sz="2000"/>
              <a:t>, now </a:t>
            </a:r>
            <a:r>
              <a:rPr lang="en-GB" sz="2000" b="1">
                <a:solidFill>
                  <a:schemeClr val="tx2"/>
                </a:solidFill>
              </a:rPr>
              <a:t>£264.9m</a:t>
            </a:r>
            <a:r>
              <a:rPr lang="en-GB" sz="2000"/>
              <a:t>. Provision ratio </a:t>
            </a:r>
            <a:r>
              <a:rPr lang="en-GB" sz="2000" b="1">
                <a:solidFill>
                  <a:schemeClr val="tx2"/>
                </a:solidFill>
              </a:rPr>
              <a:t>17.6x → 5.25x, still 52% </a:t>
            </a:r>
            <a:r>
              <a:rPr lang="en-GB" sz="2000"/>
              <a:t>above the pre-COVID.</a:t>
            </a:r>
            <a:endParaRPr lang="en-GB" sz="200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/>
                </a:solidFill>
              </a:rPr>
              <a:t>Pressure is concentrated, not general.</a:t>
            </a:r>
            <a:r>
              <a:rPr lang="en-GB" sz="2000">
                <a:solidFill>
                  <a:schemeClr val="tx2"/>
                </a:solidFill>
              </a:rPr>
              <a:t> </a:t>
            </a:r>
            <a:r>
              <a:rPr lang="en-GB" sz="2000"/>
              <a:t>Six authorities persistently top-quartile on all three metrics; Blackpool and Salford on every metric, every year. Post-industrial North and Midlands realise the loss; outer London provisions and accumulates without writing off.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B07F6-7180-3E05-056A-FFAE54AC5680}"/>
              </a:ext>
            </a:extLst>
          </p:cNvPr>
          <p:cNvSpPr txBox="1"/>
          <p:nvPr/>
        </p:nvSpPr>
        <p:spPr>
          <a:xfrm>
            <a:off x="145974" y="5353079"/>
            <a:ext cx="6150813" cy="1212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800"/>
          </a:p>
          <a:p>
            <a:r>
              <a:rPr lang="en-GB" sz="1800" b="1">
                <a:solidFill>
                  <a:schemeClr val="tx2"/>
                </a:solidFill>
              </a:rPr>
              <a:t>Is the remaining gap an elevated risk view, or a write-off cycle still maturing? NNDR3 alone can't tell, it needs authority-level engagement.</a:t>
            </a:r>
          </a:p>
        </p:txBody>
      </p:sp>
    </p:spTree>
    <p:extLst>
      <p:ext uri="{BB962C8B-B14F-4D97-AF65-F5344CB8AC3E}">
        <p14:creationId xmlns:p14="http://schemas.microsoft.com/office/powerpoint/2010/main" val="230755709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11BADC-3672-069B-B14E-D6B182537CA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GB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316021992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Design">
  <a:themeElements>
    <a:clrScheme name="MHCLG Theme">
      <a:dk1>
        <a:srgbClr val="000000"/>
      </a:dk1>
      <a:lt1>
        <a:srgbClr val="FFFFFF"/>
      </a:lt1>
      <a:dk2>
        <a:srgbClr val="00625E"/>
      </a:dk2>
      <a:lt2>
        <a:srgbClr val="E5E5E5"/>
      </a:lt2>
      <a:accent1>
        <a:srgbClr val="932A71"/>
      </a:accent1>
      <a:accent2>
        <a:srgbClr val="00625E"/>
      </a:accent2>
      <a:accent3>
        <a:srgbClr val="BF491D"/>
      </a:accent3>
      <a:accent4>
        <a:srgbClr val="40611F"/>
      </a:accent4>
      <a:accent5>
        <a:srgbClr val="205083"/>
      </a:accent5>
      <a:accent6>
        <a:srgbClr val="85282A"/>
      </a:accent6>
      <a:hlink>
        <a:srgbClr val="0099CC"/>
      </a:hlink>
      <a:folHlink>
        <a:srgbClr val="00625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3C99ACC31DEB4CA85155C1C4B2BED4" ma:contentTypeVersion="19" ma:contentTypeDescription="Create a new document." ma:contentTypeScope="" ma:versionID="88d8074a8f3c327d7a1263cf6c86e6a4">
  <xsd:schema xmlns:xsd="http://www.w3.org/2001/XMLSchema" xmlns:xs="http://www.w3.org/2001/XMLSchema" xmlns:p="http://schemas.microsoft.com/office/2006/metadata/properties" xmlns:ns1="http://schemas.microsoft.com/sharepoint/v3" xmlns:ns2="39934131-7fde-4d86-ab4d-ac2a3524cd21" xmlns:ns3="94122ef2-339f-40fe-87e7-fc327ef66535" targetNamespace="http://schemas.microsoft.com/office/2006/metadata/properties" ma:root="true" ma:fieldsID="27e036900c1b0f1c3be0d81d660fe743" ns1:_="" ns2:_="" ns3:_="">
    <xsd:import namespace="http://schemas.microsoft.com/sharepoint/v3"/>
    <xsd:import namespace="39934131-7fde-4d86-ab4d-ac2a3524cd21"/>
    <xsd:import namespace="94122ef2-339f-40fe-87e7-fc327ef665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ServiceLocation" minOccurs="0"/>
                <xsd:element ref="ns2:Currency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934131-7fde-4d86-ab4d-ac2a3524cd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56ca3a0-e5c0-40d7-8522-e7aae8be60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Number" ma:index="22" nillable="true" ma:displayName="Folder Number" ma:description="Numbered folders as an alternative to sorting alphabetically." ma:format="Dropdown" ma:internalName="Number">
      <xsd:simpleType>
        <xsd:union memberTypes="dms:Text">
          <xsd:simpleType>
            <xsd:restriction base="dms:Choice">
              <xsd:enumeration value="1"/>
              <xsd:enumeration value="2"/>
              <xsd:enumeration value="3"/>
              <xsd:enumeration value="4"/>
              <xsd:enumeration value="5"/>
              <xsd:enumeration value="6"/>
              <xsd:enumeration value="7"/>
              <xsd:enumeration value="8"/>
              <xsd:enumeration value="9"/>
              <xsd:enumeration value="10"/>
            </xsd:restriction>
          </xsd:simpleType>
        </xsd:union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CurrencyTest" ma:index="24" nillable="true" ma:displayName="Currency Test" ma:description="Test column to trial out currency format" ma:format="£123,456.00 (United Kingdom)" ma:LCID="2057" ma:internalName="CurrencyTest">
      <xsd:simpleType>
        <xsd:restriction base="dms:Currency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122ef2-339f-40fe-87e7-fc327ef6653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8f7caa-4a43-4578-b526-95b1999a86d2}" ma:internalName="TaxCatchAll" ma:showField="CatchAllData" ma:web="94122ef2-339f-40fe-87e7-fc327ef665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9934131-7fde-4d86-ab4d-ac2a3524cd21">
      <Terms xmlns="http://schemas.microsoft.com/office/infopath/2007/PartnerControls"/>
    </lcf76f155ced4ddcb4097134ff3c332f>
    <TaxCatchAll xmlns="94122ef2-339f-40fe-87e7-fc327ef66535" xsi:nil="true"/>
    <_ip_UnifiedCompliancePolicyUIAction xmlns="http://schemas.microsoft.com/sharepoint/v3" xsi:nil="true"/>
    <CurrencyTest xmlns="39934131-7fde-4d86-ab4d-ac2a3524cd21">100</CurrencyTest>
    <Number xmlns="39934131-7fde-4d86-ab4d-ac2a3524cd21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CFDCA37-F7BA-4BE6-A166-77D4694C3FD7}">
  <ds:schemaRefs>
    <ds:schemaRef ds:uri="39934131-7fde-4d86-ab4d-ac2a3524cd21"/>
    <ds:schemaRef ds:uri="94122ef2-339f-40fe-87e7-fc327ef665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D30B81-FBD6-4A7F-8112-703D03D14E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683313-30BB-4F73-A6E2-1539437EA9CC}">
  <ds:schemaRefs>
    <ds:schemaRef ds:uri="39934131-7fde-4d86-ab4d-ac2a3524cd21"/>
    <ds:schemaRef ds:uri="94122ef2-339f-40fe-87e7-fc327ef665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bd41ebe-fca6-4f2c-aecb-bf3a17e72416}" enabled="1" method="Privileged" siteId="{bf346810-9c7d-43de-a872-24a2ef3995a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23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Custom Design</vt:lpstr>
      <vt:lpstr>Investigating the Tax Gap 2013-2026</vt:lpstr>
      <vt:lpstr>Understanding the Tax Gap</vt:lpstr>
      <vt:lpstr>Understanding the Tax Gap</vt:lpstr>
      <vt:lpstr>Billing Authorities Business Rates</vt:lpstr>
      <vt:lpstr>Net write-offs reached £264.9m in 2025-26, 0.94% of net rates payable</vt:lpstr>
      <vt:lpstr>Before debt is written off, it accumulates as arrears</vt:lpstr>
      <vt:lpstr>Arrears outstanding rose sharply during COVID and remain above pre-pandemic levels</vt:lpstr>
      <vt:lpstr>Arrears outstanding rose sharply during COVID and remain above pre-pandemic levels</vt:lpstr>
      <vt:lpstr>Further Breaking down Arrears</vt:lpstr>
      <vt:lpstr>The relationship between Arrears and distinct sectors</vt:lpstr>
      <vt:lpstr>Has the sector-arrears relationship held over time? </vt:lpstr>
      <vt:lpstr>Net write-offs have grown across the series, but the shape reflects COVID and data immaturity more than a clean trend</vt:lpstr>
      <vt:lpstr>How are these net write-offs distributed between LAs?</vt:lpstr>
      <vt:lpstr>Actually charged-to-allowance vs write-backs</vt:lpstr>
      <vt:lpstr>Amongst the different metrics are there  recurring outliers?</vt:lpstr>
      <vt:lpstr>Amongst the different metrics are there  recurring outliers?</vt:lpstr>
      <vt:lpstr>Write-offs bottomed out exactly as closure peaked - demography</vt:lpstr>
      <vt:lpstr>Business closures are the mechanism behind a write-off</vt:lpstr>
      <vt:lpstr>The non-collection allowance rose sharply as a share of the tax base through COVID and has only partly unwound</vt:lpstr>
      <vt:lpstr>Authorities are holding provision several times larger than what is being written off annually</vt:lpstr>
      <vt:lpstr>Authorities are holding provision several times larger than what is being written off annually</vt:lpstr>
      <vt:lpstr>Is provisioning risk-responsive?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 Du</dc:creator>
  <cp:revision>1</cp:revision>
  <dcterms:created xsi:type="dcterms:W3CDTF">2023-02-08T12:09:57Z</dcterms:created>
  <dcterms:modified xsi:type="dcterms:W3CDTF">2026-09-23T16:08:00Z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0x010100713C99ACC31DEB4CA85155C1C4B2BED4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Custom Design:9</vt:lpwstr>
  </property>
  <property fmtid="{D5CDD505-2E9C-101B-9397-08002B2CF9AE}" pid="5" name="ClassificationContentMarkingFooterText">
    <vt:lpwstr>OFFICIAL</vt:lpwstr>
  </property>
  <property fmtid="{D5CDD505-2E9C-101B-9397-08002B2CF9AE}" pid="6" name="ClassificationContentMarkingHeaderLocations">
    <vt:lpwstr>Custom Design:6</vt:lpwstr>
  </property>
  <property fmtid="{D5CDD505-2E9C-101B-9397-08002B2CF9AE}" pid="7" name="ClassificationContentMarkingHeaderText">
    <vt:lpwstr>OFFICIAL</vt:lpwstr>
  </property>
</Properties>
</file>